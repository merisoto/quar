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1"/>
  </p:handoutMasterIdLst>
  <p:sldIdLst>
    <p:sldId id="256" r:id="rId2"/>
    <p:sldId id="265" r:id="rId3"/>
    <p:sldId id="262" r:id="rId4"/>
    <p:sldId id="261" r:id="rId5"/>
    <p:sldId id="267" r:id="rId6"/>
    <p:sldId id="268" r:id="rId7"/>
    <p:sldId id="260" r:id="rId8"/>
    <p:sldId id="263" r:id="rId9"/>
    <p:sldId id="269" r:id="rId10"/>
  </p:sldIdLst>
  <p:sldSz cx="12192000" cy="6858000"/>
  <p:notesSz cx="6797675" cy="99266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33"/>
    <a:srgbClr val="669900"/>
    <a:srgbClr val="006600"/>
    <a:srgbClr val="CC9900"/>
    <a:srgbClr val="FF9900"/>
    <a:srgbClr val="CCFF66"/>
    <a:srgbClr val="99FF99"/>
    <a:srgbClr val="FFFFCC"/>
    <a:srgbClr val="FFFF99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846" y="6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50444" y="0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C54B1-5C3A-411D-B32A-189F18836054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5044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DF9112-9D01-4245-B913-A1C180D861B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92299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8052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1098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9920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757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3395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4124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7962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0477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3404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6237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824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816BDB-D744-4144-8E99-14325B00ED4B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3C78D3-BC2E-47F7-8642-CFFCC762322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6428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eg"/><Relationship Id="rId10" Type="http://schemas.openxmlformats.org/officeDocument/2006/relationships/image" Target="../media/image10.jp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5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2693327" y="1960223"/>
            <a:ext cx="727635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Consolas" panose="020B0609020204030204" pitchFamily="49" charset="0"/>
              </a:rPr>
              <a:t>Proyecto </a:t>
            </a:r>
          </a:p>
          <a:p>
            <a:pPr algn="ctr"/>
            <a:endParaRPr lang="es-ES" sz="3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algn="ctr"/>
            <a:r>
              <a:rPr lang="es-ES" sz="3600" dirty="0">
                <a:solidFill>
                  <a:srgbClr val="0070C0"/>
                </a:solidFill>
                <a:latin typeface="Consolas" panose="020B0609020204030204" pitchFamily="49" charset="0"/>
              </a:rPr>
              <a:t>QUAR</a:t>
            </a:r>
          </a:p>
          <a:p>
            <a:pPr algn="ctr"/>
            <a:endParaRPr lang="es-ES" sz="3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algn="ctr"/>
            <a:r>
              <a:rPr lang="es-ES" sz="3600" dirty="0" err="1">
                <a:solidFill>
                  <a:srgbClr val="0070C0"/>
                </a:solidFill>
                <a:latin typeface="Consolas" panose="020B0609020204030204" pitchFamily="49" charset="0"/>
              </a:rPr>
              <a:t>Qu</a:t>
            </a:r>
            <a:r>
              <a:rPr lang="es-ES" sz="3600" dirty="0" err="1">
                <a:solidFill>
                  <a:srgbClr val="FF0000"/>
                </a:solidFill>
                <a:latin typeface="Consolas" panose="020B0609020204030204" pitchFamily="49" charset="0"/>
              </a:rPr>
              <a:t>antitative</a:t>
            </a:r>
            <a:r>
              <a:rPr lang="es-ES" sz="36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s-ES" sz="3600" dirty="0" err="1">
                <a:solidFill>
                  <a:srgbClr val="0070C0"/>
                </a:solidFill>
                <a:latin typeface="Consolas" panose="020B0609020204030204" pitchFamily="49" charset="0"/>
              </a:rPr>
              <a:t>A</a:t>
            </a:r>
            <a:r>
              <a:rPr lang="es-ES" sz="3600" dirty="0" err="1">
                <a:solidFill>
                  <a:srgbClr val="FF0000"/>
                </a:solidFill>
                <a:latin typeface="Consolas" panose="020B0609020204030204" pitchFamily="49" charset="0"/>
              </a:rPr>
              <a:t>ssessment</a:t>
            </a:r>
            <a:r>
              <a:rPr lang="es-ES" sz="3600" dirty="0">
                <a:solidFill>
                  <a:srgbClr val="FF0000"/>
                </a:solidFill>
                <a:latin typeface="Consolas" panose="020B0609020204030204" pitchFamily="49" charset="0"/>
              </a:rPr>
              <a:t> in </a:t>
            </a:r>
            <a:r>
              <a:rPr lang="es-ES" sz="3600" dirty="0">
                <a:solidFill>
                  <a:srgbClr val="0070C0"/>
                </a:solidFill>
                <a:latin typeface="Consolas" panose="020B0609020204030204" pitchFamily="49" charset="0"/>
              </a:rPr>
              <a:t>R</a:t>
            </a:r>
            <a:endParaRPr lang="es-ES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5 Rectángulo"/>
          <p:cNvSpPr/>
          <p:nvPr/>
        </p:nvSpPr>
        <p:spPr>
          <a:xfrm>
            <a:off x="9526756" y="5857789"/>
            <a:ext cx="23448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>
                <a:solidFill>
                  <a:schemeClr val="tx2"/>
                </a:solidFill>
              </a:rPr>
              <a:t>maria.soto@ieo.csic.es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0" y="6298053"/>
            <a:ext cx="12192000" cy="576000"/>
            <a:chOff x="0" y="6092569"/>
            <a:chExt cx="12192000" cy="576000"/>
          </a:xfrm>
        </p:grpSpPr>
        <p:sp>
          <p:nvSpPr>
            <p:cNvPr id="2" name="Rectángulo 1"/>
            <p:cNvSpPr/>
            <p:nvPr/>
          </p:nvSpPr>
          <p:spPr>
            <a:xfrm>
              <a:off x="0" y="6092569"/>
              <a:ext cx="12192000" cy="5760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dirty="0"/>
                <a:t>                                           IEO Madrid, 25 de Abril 2024</a:t>
              </a:r>
            </a:p>
          </p:txBody>
        </p:sp>
        <p:pic>
          <p:nvPicPr>
            <p:cNvPr id="9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7399076" y="6113117"/>
              <a:ext cx="4782650" cy="54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2714885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085802" y="441258"/>
            <a:ext cx="4027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</a:rPr>
              <a:t>EQUIPO DE TRABAJO</a:t>
            </a:r>
          </a:p>
        </p:txBody>
      </p:sp>
      <p:grpSp>
        <p:nvGrpSpPr>
          <p:cNvPr id="11" name="Grupo 10"/>
          <p:cNvGrpSpPr/>
          <p:nvPr/>
        </p:nvGrpSpPr>
        <p:grpSpPr>
          <a:xfrm>
            <a:off x="1119115" y="1321545"/>
            <a:ext cx="10067806" cy="3034794"/>
            <a:chOff x="1576315" y="1491335"/>
            <a:chExt cx="10067806" cy="3034794"/>
          </a:xfrm>
        </p:grpSpPr>
        <p:grpSp>
          <p:nvGrpSpPr>
            <p:cNvPr id="10" name="Grupo 9"/>
            <p:cNvGrpSpPr/>
            <p:nvPr/>
          </p:nvGrpSpPr>
          <p:grpSpPr>
            <a:xfrm>
              <a:off x="1576315" y="1491335"/>
              <a:ext cx="10067806" cy="1181921"/>
              <a:chOff x="1576315" y="1491335"/>
              <a:chExt cx="10067806" cy="1181921"/>
            </a:xfrm>
          </p:grpSpPr>
          <p:pic>
            <p:nvPicPr>
              <p:cNvPr id="4" name="Imagen 3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7824" y="1491335"/>
                <a:ext cx="1080000" cy="1167235"/>
              </a:xfrm>
              <a:prstGeom prst="rect">
                <a:avLst/>
              </a:prstGeom>
              <a:ln w="635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2" name="Imagen 1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9333" y="1491335"/>
                <a:ext cx="1021770" cy="1152000"/>
              </a:xfrm>
              <a:prstGeom prst="rect">
                <a:avLst/>
              </a:prstGeom>
              <a:ln w="635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" name="Imagen 5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90" t="21815" r="32980" b="38248"/>
              <a:stretch/>
            </p:blipFill>
            <p:spPr>
              <a:xfrm>
                <a:off x="8302612" y="1506293"/>
                <a:ext cx="1080000" cy="1122083"/>
              </a:xfrm>
              <a:prstGeom prst="rect">
                <a:avLst/>
              </a:prstGeom>
              <a:ln w="635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7" name="Imagen 6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76315" y="1527336"/>
                <a:ext cx="1080000" cy="1145920"/>
              </a:xfrm>
              <a:prstGeom prst="rect">
                <a:avLst/>
              </a:prstGeom>
              <a:ln w="635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8" name="Imagen 7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320" t="4982" r="16298" b="25344"/>
              <a:stretch/>
            </p:blipFill>
            <p:spPr>
              <a:xfrm>
                <a:off x="10564121" y="1504488"/>
                <a:ext cx="1080000" cy="1168768"/>
              </a:xfrm>
              <a:prstGeom prst="rect">
                <a:avLst/>
              </a:prstGeom>
              <a:ln w="635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pic>
          <p:nvPicPr>
            <p:cNvPr id="9" name="Imagen 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9333" y="3214693"/>
              <a:ext cx="1080000" cy="1311436"/>
            </a:xfrm>
            <a:prstGeom prst="rect">
              <a:avLst/>
            </a:prstGeom>
            <a:ln w="63500">
              <a:solidFill>
                <a:schemeClr val="tx1">
                  <a:lumMod val="50000"/>
                  <a:lumOff val="50000"/>
                </a:schemeClr>
              </a:solidFill>
            </a:ln>
          </p:spPr>
        </p:pic>
      </p:grpSp>
      <p:grpSp>
        <p:nvGrpSpPr>
          <p:cNvPr id="17" name="Grupo 16"/>
          <p:cNvGrpSpPr/>
          <p:nvPr/>
        </p:nvGrpSpPr>
        <p:grpSpPr>
          <a:xfrm>
            <a:off x="7076535" y="2988339"/>
            <a:ext cx="4671202" cy="2736000"/>
            <a:chOff x="7086809" y="2988339"/>
            <a:chExt cx="4671202" cy="2736000"/>
          </a:xfrm>
        </p:grpSpPr>
        <p:pic>
          <p:nvPicPr>
            <p:cNvPr id="12" name="Picture 2" descr="Acerca del IEO - Instituto Español de Oceanografía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6809" y="2988339"/>
              <a:ext cx="4671202" cy="273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Estrella de 5 puntas 2"/>
            <p:cNvSpPr>
              <a:spLocks noChangeAspect="1"/>
            </p:cNvSpPr>
            <p:nvPr/>
          </p:nvSpPr>
          <p:spPr>
            <a:xfrm>
              <a:off x="9267290" y="5167903"/>
              <a:ext cx="216000" cy="216000"/>
            </a:xfrm>
            <a:prstGeom prst="star5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rgbClr val="FF0000"/>
                </a:solidFill>
              </a:endParaRPr>
            </a:p>
          </p:txBody>
        </p:sp>
        <p:sp>
          <p:nvSpPr>
            <p:cNvPr id="13" name="Estrella de 5 puntas 12"/>
            <p:cNvSpPr>
              <a:spLocks noChangeAspect="1"/>
            </p:cNvSpPr>
            <p:nvPr/>
          </p:nvSpPr>
          <p:spPr>
            <a:xfrm>
              <a:off x="8277412" y="2988339"/>
              <a:ext cx="216000" cy="216000"/>
            </a:xfrm>
            <a:prstGeom prst="star5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rgbClr val="FF0000"/>
                </a:solidFill>
              </a:endParaRPr>
            </a:p>
          </p:txBody>
        </p:sp>
        <p:sp>
          <p:nvSpPr>
            <p:cNvPr id="14" name="Estrella de 5 puntas 13"/>
            <p:cNvSpPr>
              <a:spLocks noChangeAspect="1"/>
            </p:cNvSpPr>
            <p:nvPr/>
          </p:nvSpPr>
          <p:spPr>
            <a:xfrm>
              <a:off x="8752512" y="5211408"/>
              <a:ext cx="216000" cy="216000"/>
            </a:xfrm>
            <a:prstGeom prst="star5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rgbClr val="FF0000"/>
                </a:solidFill>
              </a:endParaRPr>
            </a:p>
          </p:txBody>
        </p:sp>
        <p:sp>
          <p:nvSpPr>
            <p:cNvPr id="15" name="Estrella de 5 puntas 14"/>
            <p:cNvSpPr>
              <a:spLocks noChangeAspect="1"/>
            </p:cNvSpPr>
            <p:nvPr/>
          </p:nvSpPr>
          <p:spPr>
            <a:xfrm>
              <a:off x="9378715" y="2988339"/>
              <a:ext cx="216000" cy="216000"/>
            </a:xfrm>
            <a:prstGeom prst="star5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rgbClr val="FF0000"/>
                </a:solidFill>
              </a:endParaRPr>
            </a:p>
          </p:txBody>
        </p:sp>
        <p:sp>
          <p:nvSpPr>
            <p:cNvPr id="16" name="Estrella de 5 puntas 15"/>
            <p:cNvSpPr>
              <a:spLocks noChangeAspect="1"/>
            </p:cNvSpPr>
            <p:nvPr/>
          </p:nvSpPr>
          <p:spPr>
            <a:xfrm>
              <a:off x="9429964" y="3943567"/>
              <a:ext cx="216000" cy="216000"/>
            </a:xfrm>
            <a:prstGeom prst="star5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rgbClr val="FF0000"/>
                </a:solidFill>
              </a:endParaRPr>
            </a:p>
          </p:txBody>
        </p:sp>
      </p:grpSp>
      <p:sp>
        <p:nvSpPr>
          <p:cNvPr id="18" name="CuadroTexto 17"/>
          <p:cNvSpPr txBox="1"/>
          <p:nvPr/>
        </p:nvSpPr>
        <p:spPr>
          <a:xfrm>
            <a:off x="942679" y="2686682"/>
            <a:ext cx="1410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M. GRAZIA PENNINO</a:t>
            </a:r>
          </a:p>
        </p:txBody>
      </p:sp>
      <p:sp>
        <p:nvSpPr>
          <p:cNvPr id="19" name="CuadroTexto 18"/>
          <p:cNvSpPr txBox="1"/>
          <p:nvPr/>
        </p:nvSpPr>
        <p:spPr>
          <a:xfrm>
            <a:off x="3414073" y="2678823"/>
            <a:ext cx="9573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MARÍA SOTO</a:t>
            </a:r>
          </a:p>
        </p:txBody>
      </p:sp>
      <p:sp>
        <p:nvSpPr>
          <p:cNvPr id="20" name="CuadroTexto 19"/>
          <p:cNvSpPr txBox="1"/>
          <p:nvPr/>
        </p:nvSpPr>
        <p:spPr>
          <a:xfrm>
            <a:off x="5678076" y="2689820"/>
            <a:ext cx="9781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LUCÍA RUEDA</a:t>
            </a:r>
          </a:p>
        </p:txBody>
      </p:sp>
      <p:sp>
        <p:nvSpPr>
          <p:cNvPr id="21" name="CuadroTexto 20"/>
          <p:cNvSpPr txBox="1"/>
          <p:nvPr/>
        </p:nvSpPr>
        <p:spPr>
          <a:xfrm>
            <a:off x="7781823" y="2681967"/>
            <a:ext cx="12314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DIANA GONZÁLEZ</a:t>
            </a:r>
          </a:p>
        </p:txBody>
      </p:sp>
      <p:sp>
        <p:nvSpPr>
          <p:cNvPr id="22" name="CuadroTexto 21"/>
          <p:cNvSpPr txBox="1"/>
          <p:nvPr/>
        </p:nvSpPr>
        <p:spPr>
          <a:xfrm>
            <a:off x="9951559" y="2683540"/>
            <a:ext cx="14269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MARGARITA RINCÓN</a:t>
            </a:r>
          </a:p>
        </p:txBody>
      </p:sp>
      <p:sp>
        <p:nvSpPr>
          <p:cNvPr id="23" name="CuadroTexto 22"/>
          <p:cNvSpPr txBox="1"/>
          <p:nvPr/>
        </p:nvSpPr>
        <p:spPr>
          <a:xfrm>
            <a:off x="5569672" y="4513908"/>
            <a:ext cx="119616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PABLO ABAUNZA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D6F435CF-DB77-4758-800C-53192739960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26" r="18227"/>
          <a:stretch/>
        </p:blipFill>
        <p:spPr>
          <a:xfrm>
            <a:off x="1075572" y="3057841"/>
            <a:ext cx="1165685" cy="1284296"/>
          </a:xfrm>
          <a:prstGeom prst="rect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7EE99158-0D8F-4A99-8EF7-E522133573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5230" y="3072420"/>
            <a:ext cx="1050788" cy="1284296"/>
          </a:xfrm>
          <a:prstGeom prst="rect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831B3219-AED2-42BE-9F09-F0F2864AECA0}"/>
              </a:ext>
            </a:extLst>
          </p:cNvPr>
          <p:cNvSpPr txBox="1"/>
          <p:nvPr/>
        </p:nvSpPr>
        <p:spPr>
          <a:xfrm>
            <a:off x="942679" y="4528776"/>
            <a:ext cx="4316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M.JOSE JUAN JORDA                                       LUCIA ARRANZ</a:t>
            </a:r>
          </a:p>
        </p:txBody>
      </p:sp>
    </p:spTree>
    <p:extLst>
      <p:ext uri="{BB962C8B-B14F-4D97-AF65-F5344CB8AC3E}">
        <p14:creationId xmlns:p14="http://schemas.microsoft.com/office/powerpoint/2010/main" val="2974329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3780570" y="465552"/>
            <a:ext cx="51571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3200" dirty="0">
                <a:solidFill>
                  <a:srgbClr val="0070C0"/>
                </a:solidFill>
                <a:latin typeface="Consolas" panose="020B0609020204030204" pitchFamily="49" charset="0"/>
              </a:rPr>
              <a:t>EVOLUCIÓN</a:t>
            </a:r>
            <a:r>
              <a:rPr lang="es-ES" sz="3200" noProof="0" dirty="0">
                <a:solidFill>
                  <a:srgbClr val="0070C0"/>
                </a:solidFill>
                <a:latin typeface="Consolas" panose="020B0609020204030204" pitchFamily="49" charset="0"/>
              </a:rPr>
              <a:t> DEL PROYECTO</a:t>
            </a:r>
            <a:endParaRPr kumimoji="0" lang="es-ES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067" y="1843612"/>
            <a:ext cx="2333810" cy="27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" name="Grupo 5"/>
          <p:cNvGrpSpPr/>
          <p:nvPr/>
        </p:nvGrpSpPr>
        <p:grpSpPr>
          <a:xfrm>
            <a:off x="480519" y="1595928"/>
            <a:ext cx="4671202" cy="2949835"/>
            <a:chOff x="5360751" y="2633616"/>
            <a:chExt cx="4671202" cy="2949835"/>
          </a:xfrm>
        </p:grpSpPr>
        <p:pic>
          <p:nvPicPr>
            <p:cNvPr id="1026" name="Picture 2" descr="Acerca del IEO - Instituto Español de Oceanografía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60751" y="2847451"/>
              <a:ext cx="4671202" cy="273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CuadroTexto 8"/>
            <p:cNvSpPr txBox="1"/>
            <p:nvPr/>
          </p:nvSpPr>
          <p:spPr>
            <a:xfrm>
              <a:off x="6560054" y="3036020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sz="2400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CuadroTexto 12"/>
            <p:cNvSpPr txBox="1"/>
            <p:nvPr/>
          </p:nvSpPr>
          <p:spPr>
            <a:xfrm>
              <a:off x="6455595" y="2633616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4" name="CuadroTexto 13"/>
            <p:cNvSpPr txBox="1"/>
            <p:nvPr/>
          </p:nvSpPr>
          <p:spPr>
            <a:xfrm>
              <a:off x="6977861" y="4871667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sz="2400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5" name="CuadroTexto 14"/>
            <p:cNvSpPr txBox="1"/>
            <p:nvPr/>
          </p:nvSpPr>
          <p:spPr>
            <a:xfrm>
              <a:off x="7459033" y="4849406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sz="2400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6" name="CuadroTexto 15"/>
            <p:cNvSpPr txBox="1"/>
            <p:nvPr/>
          </p:nvSpPr>
          <p:spPr>
            <a:xfrm>
              <a:off x="8495019" y="4498378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9233046" y="3798020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7700479" y="2686700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9" name="CuadroTexto 18"/>
            <p:cNvSpPr txBox="1"/>
            <p:nvPr/>
          </p:nvSpPr>
          <p:spPr>
            <a:xfrm>
              <a:off x="5871683" y="4967559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7155947" y="2645605"/>
              <a:ext cx="43473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sz="3200" b="1" dirty="0">
                  <a:solidFill>
                    <a:srgbClr val="FF0000"/>
                  </a:solidFill>
                  <a:latin typeface="Arial Black" panose="020B0A04020102020204" pitchFamily="34" charset="0"/>
                </a:rPr>
                <a:t>?</a:t>
              </a:r>
              <a:endParaRPr lang="es-ES" sz="2400" b="1" dirty="0">
                <a:solidFill>
                  <a:srgbClr val="FF00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1" name="CuadroTexto 20"/>
          <p:cNvSpPr txBox="1"/>
          <p:nvPr/>
        </p:nvSpPr>
        <p:spPr>
          <a:xfrm>
            <a:off x="2131876" y="2619910"/>
            <a:ext cx="2331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</a:rPr>
              <a:t>AREA PESCA IEO</a:t>
            </a:r>
            <a:endParaRPr lang="es-ES" b="1" dirty="0">
              <a:solidFill>
                <a:srgbClr val="0070C0"/>
              </a:solidFill>
            </a:endParaRPr>
          </a:p>
        </p:txBody>
      </p:sp>
      <p:sp>
        <p:nvSpPr>
          <p:cNvPr id="22" name="CuadroTexto 21"/>
          <p:cNvSpPr txBox="1"/>
          <p:nvPr/>
        </p:nvSpPr>
        <p:spPr>
          <a:xfrm>
            <a:off x="483766" y="4613101"/>
            <a:ext cx="739683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2800" b="1" dirty="0">
                <a:solidFill>
                  <a:srgbClr val="FF0000"/>
                </a:solidFill>
                <a:latin typeface="Arial Black" panose="020B0A04020102020204" pitchFamily="34" charset="0"/>
              </a:rPr>
              <a:t>?</a:t>
            </a:r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 Asesoramiento</a:t>
            </a:r>
          </a:p>
          <a:p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  Q   </a:t>
            </a:r>
            <a:r>
              <a:rPr lang="es-ES" sz="2800" b="1" dirty="0">
                <a:solidFill>
                  <a:schemeClr val="bg1"/>
                </a:solidFill>
                <a:latin typeface="Consolas" panose="020B0609020204030204" pitchFamily="49" charset="0"/>
              </a:rPr>
              <a:t>Estadístico-matemático</a:t>
            </a:r>
          </a:p>
          <a:p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  U</a:t>
            </a:r>
          </a:p>
          <a:p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  A   Evaluación stocks (</a:t>
            </a:r>
            <a:r>
              <a:rPr lang="es-ES" sz="2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assessment</a:t>
            </a:r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  R      Programación R (in R)</a:t>
            </a:r>
            <a:endParaRPr lang="es-E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Rectángulo 23"/>
          <p:cNvSpPr/>
          <p:nvPr/>
        </p:nvSpPr>
        <p:spPr>
          <a:xfrm>
            <a:off x="1343599" y="5314690"/>
            <a:ext cx="76138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Estadístico-matemático (</a:t>
            </a:r>
            <a:r>
              <a:rPr lang="es-ES" sz="2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quantitative</a:t>
            </a:r>
            <a:r>
              <a:rPr lang="es-ES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s-ES" dirty="0">
              <a:latin typeface="Consolas" panose="020B0609020204030204" pitchFamily="49" charset="0"/>
            </a:endParaRPr>
          </a:p>
        </p:txBody>
      </p:sp>
      <p:sp>
        <p:nvSpPr>
          <p:cNvPr id="26" name="CuadroTexto 25"/>
          <p:cNvSpPr txBox="1"/>
          <p:nvPr/>
        </p:nvSpPr>
        <p:spPr>
          <a:xfrm>
            <a:off x="1063371" y="1294759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latin typeface="Consolas" panose="020B0609020204030204" pitchFamily="49" charset="0"/>
              </a:rPr>
              <a:t>2018 actividad de investigación</a:t>
            </a:r>
          </a:p>
        </p:txBody>
      </p:sp>
      <p:sp>
        <p:nvSpPr>
          <p:cNvPr id="28" name="CuadroTexto 27"/>
          <p:cNvSpPr txBox="1"/>
          <p:nvPr/>
        </p:nvSpPr>
        <p:spPr>
          <a:xfrm>
            <a:off x="5602832" y="1303323"/>
            <a:ext cx="2090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2019 </a:t>
            </a:r>
            <a:r>
              <a:rPr lang="es-ES" dirty="0">
                <a:latin typeface="Consolas" panose="020B0609020204030204" pitchFamily="49" charset="0"/>
              </a:rPr>
              <a:t>Proyecto</a:t>
            </a:r>
            <a:r>
              <a:rPr lang="es-ES" dirty="0"/>
              <a:t> IEO</a:t>
            </a:r>
          </a:p>
        </p:txBody>
      </p:sp>
      <p:sp>
        <p:nvSpPr>
          <p:cNvPr id="29" name="CuadroTexto 28"/>
          <p:cNvSpPr txBox="1"/>
          <p:nvPr/>
        </p:nvSpPr>
        <p:spPr>
          <a:xfrm>
            <a:off x="10770858" y="1553220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latin typeface="Consolas" panose="020B0609020204030204" pitchFamily="49" charset="0"/>
              </a:rPr>
              <a:t>2022 PIE</a:t>
            </a:r>
          </a:p>
        </p:txBody>
      </p:sp>
      <p:pic>
        <p:nvPicPr>
          <p:cNvPr id="27" name="Imagen 2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856" y="1477021"/>
            <a:ext cx="876300" cy="876300"/>
          </a:xfrm>
          <a:prstGeom prst="rect">
            <a:avLst/>
          </a:prstGeom>
        </p:spPr>
      </p:pic>
      <p:sp>
        <p:nvSpPr>
          <p:cNvPr id="31" name="CuadroTexto 30"/>
          <p:cNvSpPr txBox="1"/>
          <p:nvPr/>
        </p:nvSpPr>
        <p:spPr>
          <a:xfrm>
            <a:off x="10458456" y="4466160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latin typeface="Consolas" panose="020B0609020204030204" pitchFamily="49" charset="0"/>
              </a:rPr>
              <a:t>2024 PNDB</a:t>
            </a:r>
          </a:p>
        </p:txBody>
      </p:sp>
      <p:pic>
        <p:nvPicPr>
          <p:cNvPr id="30" name="Imagen 2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9137" y="2217290"/>
            <a:ext cx="1109250" cy="1044000"/>
          </a:xfrm>
          <a:prstGeom prst="rect">
            <a:avLst/>
          </a:prstGeom>
        </p:spPr>
      </p:pic>
      <p:sp>
        <p:nvSpPr>
          <p:cNvPr id="34" name="Flecha abajo 33"/>
          <p:cNvSpPr/>
          <p:nvPr/>
        </p:nvSpPr>
        <p:spPr>
          <a:xfrm>
            <a:off x="11255553" y="2456927"/>
            <a:ext cx="143839" cy="1728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Flecha arriba 34"/>
          <p:cNvSpPr/>
          <p:nvPr/>
        </p:nvSpPr>
        <p:spPr>
          <a:xfrm rot="5400000">
            <a:off x="5273216" y="1336195"/>
            <a:ext cx="143838" cy="360000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634" y="4989887"/>
            <a:ext cx="2954806" cy="1332000"/>
          </a:xfrm>
          <a:prstGeom prst="rect">
            <a:avLst/>
          </a:prstGeom>
        </p:spPr>
      </p:pic>
      <p:sp>
        <p:nvSpPr>
          <p:cNvPr id="8" name="Arco 7"/>
          <p:cNvSpPr/>
          <p:nvPr/>
        </p:nvSpPr>
        <p:spPr>
          <a:xfrm>
            <a:off x="7328149" y="1643553"/>
            <a:ext cx="958601" cy="402404"/>
          </a:xfrm>
          <a:prstGeom prst="arc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Arco 31"/>
          <p:cNvSpPr/>
          <p:nvPr/>
        </p:nvSpPr>
        <p:spPr>
          <a:xfrm>
            <a:off x="8814049" y="2196003"/>
            <a:ext cx="958601" cy="402404"/>
          </a:xfrm>
          <a:prstGeom prst="arc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Arco 32"/>
          <p:cNvSpPr/>
          <p:nvPr/>
        </p:nvSpPr>
        <p:spPr>
          <a:xfrm rot="7175909">
            <a:off x="10357099" y="1719753"/>
            <a:ext cx="958601" cy="402404"/>
          </a:xfrm>
          <a:prstGeom prst="arc">
            <a:avLst/>
          </a:prstGeom>
          <a:ln w="60325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Picture 2" descr="Sonrisa - Iconos gratis de emoticonos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7725" y="4500562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4133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45832" y="457200"/>
            <a:ext cx="5123518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800" dirty="0" err="1">
                <a:solidFill>
                  <a:srgbClr val="0070C0"/>
                </a:solidFill>
                <a:latin typeface="Consolas" panose="020B0609020204030204" pitchFamily="49" charset="0"/>
              </a:rPr>
              <a:t>ToRs</a:t>
            </a:r>
            <a:endParaRPr lang="es-ES" sz="20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u="sng" dirty="0">
                <a:solidFill>
                  <a:prstClr val="black"/>
                </a:solidFill>
                <a:latin typeface="Consolas" panose="020B0609020204030204" pitchFamily="49" charset="0"/>
              </a:rPr>
              <a:t>Modelización de datos pesqueros R</a:t>
            </a: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Modelos de evaluación: DRS, DLS</a:t>
            </a: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Simulación de incertidumbre en datos</a:t>
            </a:r>
          </a:p>
          <a:p>
            <a:pPr lvl="0"/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Evaluación y gestión: MSE</a:t>
            </a:r>
          </a:p>
          <a:p>
            <a:pPr lvl="0"/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ModelizacióN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Bayesiana espacial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Estandarización de </a:t>
            </a: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CPUEs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VMS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Life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history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traits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Dinámica de poblaciones: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    - Puntos de referencia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    - Estimación parámetros biológicos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    - Tallas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    - Crecimiento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    - Selectividad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Buenas prácticas en evaluación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Datos ambientales</a:t>
            </a:r>
          </a:p>
        </p:txBody>
      </p:sp>
      <p:sp>
        <p:nvSpPr>
          <p:cNvPr id="3" name="Rectángulo 2"/>
          <p:cNvSpPr/>
          <p:nvPr/>
        </p:nvSpPr>
        <p:spPr>
          <a:xfrm>
            <a:off x="6257925" y="2955893"/>
            <a:ext cx="5753100" cy="1477328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R </a:t>
            </a: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packages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Intercambio y desarrollo de scripts R</a:t>
            </a: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WG: Métodos de evaluación y Datos Espaciales</a:t>
            </a: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Formación y talleres PNDB</a:t>
            </a:r>
          </a:p>
          <a:p>
            <a:pPr lvl="0">
              <a:defRPr/>
            </a:pP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Difusión (publicaciones, </a:t>
            </a:r>
            <a:r>
              <a:rPr lang="es-ES" dirty="0" err="1">
                <a:solidFill>
                  <a:prstClr val="black"/>
                </a:solidFill>
                <a:latin typeface="Consolas" panose="020B0609020204030204" pitchFamily="49" charset="0"/>
              </a:rPr>
              <a:t>github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, RRSS)</a:t>
            </a:r>
          </a:p>
        </p:txBody>
      </p:sp>
      <p:sp>
        <p:nvSpPr>
          <p:cNvPr id="2" name="Cerrar corchete 1"/>
          <p:cNvSpPr/>
          <p:nvPr/>
        </p:nvSpPr>
        <p:spPr>
          <a:xfrm>
            <a:off x="5332287" y="1158305"/>
            <a:ext cx="155658" cy="4808095"/>
          </a:xfrm>
          <a:prstGeom prst="rightBracket">
            <a:avLst/>
          </a:prstGeom>
          <a:ln w="1016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errar corchete 5"/>
          <p:cNvSpPr/>
          <p:nvPr/>
        </p:nvSpPr>
        <p:spPr>
          <a:xfrm rot="10800000">
            <a:off x="440072" y="1115499"/>
            <a:ext cx="155658" cy="4808095"/>
          </a:xfrm>
          <a:prstGeom prst="rightBracket">
            <a:avLst/>
          </a:prstGeom>
          <a:ln w="1016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 derecha 6"/>
          <p:cNvSpPr/>
          <p:nvPr/>
        </p:nvSpPr>
        <p:spPr>
          <a:xfrm>
            <a:off x="5681609" y="3562352"/>
            <a:ext cx="493160" cy="239086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ángulo 7"/>
          <p:cNvSpPr/>
          <p:nvPr/>
        </p:nvSpPr>
        <p:spPr>
          <a:xfrm>
            <a:off x="7573380" y="2281565"/>
            <a:ext cx="25506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defRPr/>
            </a:pPr>
            <a:r>
              <a:rPr lang="es-ES" sz="2800" dirty="0">
                <a:solidFill>
                  <a:srgbClr val="0070C0"/>
                </a:solidFill>
                <a:latin typeface="Consolas" panose="020B0609020204030204" pitchFamily="49" charset="0"/>
              </a:rPr>
              <a:t>Herramientas</a:t>
            </a:r>
            <a:endParaRPr lang="es-ES" sz="2000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066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7240533" y="205057"/>
            <a:ext cx="4898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dirty="0">
                <a:solidFill>
                  <a:srgbClr val="0070C0"/>
                </a:solidFill>
                <a:latin typeface="Calibri" panose="020F0502020204030204"/>
              </a:rPr>
              <a:t>QUAR dentro del SISTEMA PESQUERO</a:t>
            </a:r>
            <a:endParaRPr kumimoji="0" lang="es-ES" sz="24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</a:endParaRPr>
          </a:p>
        </p:txBody>
      </p:sp>
      <p:grpSp>
        <p:nvGrpSpPr>
          <p:cNvPr id="46" name="Grupo 45"/>
          <p:cNvGrpSpPr/>
          <p:nvPr/>
        </p:nvGrpSpPr>
        <p:grpSpPr>
          <a:xfrm>
            <a:off x="513705" y="492571"/>
            <a:ext cx="9073008" cy="6120680"/>
            <a:chOff x="0" y="260648"/>
            <a:chExt cx="9073008" cy="6120680"/>
          </a:xfrm>
        </p:grpSpPr>
        <p:grpSp>
          <p:nvGrpSpPr>
            <p:cNvPr id="3" name="23 Grupo"/>
            <p:cNvGrpSpPr>
              <a:grpSpLocks noChangeAspect="1"/>
            </p:cNvGrpSpPr>
            <p:nvPr/>
          </p:nvGrpSpPr>
          <p:grpSpPr>
            <a:xfrm>
              <a:off x="0" y="260648"/>
              <a:ext cx="9073008" cy="6120680"/>
              <a:chOff x="35496" y="260648"/>
              <a:chExt cx="9073008" cy="6120680"/>
            </a:xfrm>
          </p:grpSpPr>
          <p:sp>
            <p:nvSpPr>
              <p:cNvPr id="4" name="9 Elipse"/>
              <p:cNvSpPr/>
              <p:nvPr/>
            </p:nvSpPr>
            <p:spPr>
              <a:xfrm>
                <a:off x="35496" y="260648"/>
                <a:ext cx="9073008" cy="6120680"/>
              </a:xfrm>
              <a:prstGeom prst="ellipse">
                <a:avLst/>
              </a:prstGeom>
              <a:gradFill>
                <a:gsLst>
                  <a:gs pos="0">
                    <a:schemeClr val="bg2">
                      <a:lumMod val="7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" name="3 Elipse"/>
              <p:cNvSpPr/>
              <p:nvPr/>
            </p:nvSpPr>
            <p:spPr>
              <a:xfrm>
                <a:off x="1403648" y="980728"/>
                <a:ext cx="6336704" cy="3888432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7" name="5 CuadroTexto"/>
              <p:cNvSpPr txBox="1"/>
              <p:nvPr/>
            </p:nvSpPr>
            <p:spPr>
              <a:xfrm>
                <a:off x="3594710" y="332656"/>
                <a:ext cx="19442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2000" b="1" dirty="0">
                    <a:solidFill>
                      <a:srgbClr val="002060"/>
                    </a:solidFill>
                  </a:rPr>
                  <a:t>SISTEMA PESQUERO</a:t>
                </a:r>
              </a:p>
            </p:txBody>
          </p:sp>
          <p:grpSp>
            <p:nvGrpSpPr>
              <p:cNvPr id="8" name="22 Grupo"/>
              <p:cNvGrpSpPr/>
              <p:nvPr/>
            </p:nvGrpSpPr>
            <p:grpSpPr>
              <a:xfrm>
                <a:off x="1907704" y="1268760"/>
                <a:ext cx="6120680" cy="3351903"/>
                <a:chOff x="1907704" y="1268760"/>
                <a:chExt cx="6120680" cy="3351903"/>
              </a:xfrm>
            </p:grpSpPr>
            <p:sp>
              <p:nvSpPr>
                <p:cNvPr id="12" name="4 CuadroTexto"/>
                <p:cNvSpPr txBox="1"/>
                <p:nvPr/>
              </p:nvSpPr>
              <p:spPr>
                <a:xfrm>
                  <a:off x="4067944" y="1268760"/>
                  <a:ext cx="19442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b="1" dirty="0">
                      <a:solidFill>
                        <a:srgbClr val="CC0000"/>
                      </a:solidFill>
                    </a:rPr>
                    <a:t>PESQUERÍAS</a:t>
                  </a:r>
                </a:p>
              </p:txBody>
            </p:sp>
            <p:sp>
              <p:nvSpPr>
                <p:cNvPr id="13" name="6 CuadroTexto"/>
                <p:cNvSpPr txBox="1"/>
                <p:nvPr/>
              </p:nvSpPr>
              <p:spPr>
                <a:xfrm>
                  <a:off x="6084168" y="2792094"/>
                  <a:ext cx="19442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b="1" dirty="0">
                      <a:solidFill>
                        <a:srgbClr val="C00000"/>
                      </a:solidFill>
                    </a:rPr>
                    <a:t>DATOS</a:t>
                  </a:r>
                </a:p>
              </p:txBody>
            </p:sp>
            <p:sp>
              <p:nvSpPr>
                <p:cNvPr id="14" name="7 CuadroTexto"/>
                <p:cNvSpPr txBox="1"/>
                <p:nvPr/>
              </p:nvSpPr>
              <p:spPr>
                <a:xfrm>
                  <a:off x="3543250" y="3974332"/>
                  <a:ext cx="194421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b="1" dirty="0">
                      <a:solidFill>
                        <a:srgbClr val="C00000"/>
                      </a:solidFill>
                    </a:rPr>
                    <a:t>EVALUACIÓN &amp; ASESORAMIENTO</a:t>
                  </a:r>
                </a:p>
              </p:txBody>
            </p:sp>
            <p:sp>
              <p:nvSpPr>
                <p:cNvPr id="15" name="8 CuadroTexto"/>
                <p:cNvSpPr txBox="1"/>
                <p:nvPr/>
              </p:nvSpPr>
              <p:spPr>
                <a:xfrm>
                  <a:off x="1907704" y="2575358"/>
                  <a:ext cx="19442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b="1" dirty="0">
                      <a:solidFill>
                        <a:srgbClr val="C00000"/>
                      </a:solidFill>
                    </a:rPr>
                    <a:t>CUMPLIMIENTO</a:t>
                  </a:r>
                </a:p>
              </p:txBody>
            </p:sp>
            <p:sp>
              <p:nvSpPr>
                <p:cNvPr id="16" name="14 Flecha a la derecha con muesca"/>
                <p:cNvSpPr/>
                <p:nvPr/>
              </p:nvSpPr>
              <p:spPr>
                <a:xfrm rot="2458197">
                  <a:off x="5251963" y="1842000"/>
                  <a:ext cx="1224136" cy="360040"/>
                </a:xfrm>
                <a:prstGeom prst="notchedRightArrow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15 Flecha a la derecha con muesca"/>
                <p:cNvSpPr/>
                <p:nvPr/>
              </p:nvSpPr>
              <p:spPr>
                <a:xfrm rot="8799485">
                  <a:off x="5293877" y="3519760"/>
                  <a:ext cx="1224136" cy="360040"/>
                </a:xfrm>
                <a:prstGeom prst="notchedRightArrow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18 Flecha a la derecha con muesca"/>
                <p:cNvSpPr/>
                <p:nvPr/>
              </p:nvSpPr>
              <p:spPr>
                <a:xfrm rot="13289398">
                  <a:off x="2302514" y="3357269"/>
                  <a:ext cx="1224136" cy="360040"/>
                </a:xfrm>
                <a:prstGeom prst="notchedRightArrow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19 Flecha a la derecha con muesca"/>
                <p:cNvSpPr/>
                <p:nvPr/>
              </p:nvSpPr>
              <p:spPr>
                <a:xfrm rot="19607486">
                  <a:off x="2698426" y="1863576"/>
                  <a:ext cx="1224136" cy="360040"/>
                </a:xfrm>
                <a:prstGeom prst="notchedRightArrow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9" name="20 CuadroTexto"/>
              <p:cNvSpPr txBox="1"/>
              <p:nvPr/>
            </p:nvSpPr>
            <p:spPr>
              <a:xfrm rot="16200000">
                <a:off x="4355064" y="4587112"/>
                <a:ext cx="461665" cy="1712328"/>
              </a:xfrm>
              <a:prstGeom prst="rect">
                <a:avLst/>
              </a:prstGeom>
              <a:noFill/>
            </p:spPr>
            <p:txBody>
              <a:bodyPr vert="vert" wrap="none" rtlCol="0">
                <a:spAutoFit/>
              </a:bodyPr>
              <a:lstStyle/>
              <a:p>
                <a:r>
                  <a:rPr lang="es-ES" b="1" dirty="0">
                    <a:solidFill>
                      <a:srgbClr val="00B050"/>
                    </a:solidFill>
                  </a:rPr>
                  <a:t>INCERTIDUMBRE</a:t>
                </a:r>
              </a:p>
            </p:txBody>
          </p:sp>
        </p:grpSp>
        <p:sp>
          <p:nvSpPr>
            <p:cNvPr id="2" name="CuadroTexto 1"/>
            <p:cNvSpPr txBox="1"/>
            <p:nvPr/>
          </p:nvSpPr>
          <p:spPr>
            <a:xfrm>
              <a:off x="7109719" y="4246004"/>
              <a:ext cx="1174296" cy="584775"/>
            </a:xfrm>
            <a:prstGeom prst="rect">
              <a:avLst/>
            </a:prstGeom>
            <a:noFill/>
            <a:ln w="53975">
              <a:solidFill>
                <a:schemeClr val="accent3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" sz="3200" dirty="0"/>
                <a:t>QUAR</a:t>
              </a:r>
            </a:p>
          </p:txBody>
        </p:sp>
        <p:sp>
          <p:nvSpPr>
            <p:cNvPr id="22" name="Elipse 21"/>
            <p:cNvSpPr/>
            <p:nvPr/>
          </p:nvSpPr>
          <p:spPr>
            <a:xfrm rot="20286942">
              <a:off x="3376552" y="2967728"/>
              <a:ext cx="3845905" cy="1558624"/>
            </a:xfrm>
            <a:prstGeom prst="ellipse">
              <a:avLst/>
            </a:prstGeom>
            <a:noFill/>
            <a:ln w="412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3" name="Elipse 22"/>
            <p:cNvSpPr/>
            <p:nvPr/>
          </p:nvSpPr>
          <p:spPr>
            <a:xfrm>
              <a:off x="3481227" y="5154334"/>
              <a:ext cx="2169559" cy="587203"/>
            </a:xfrm>
            <a:prstGeom prst="ellipse">
              <a:avLst/>
            </a:prstGeom>
            <a:noFill/>
            <a:ln w="412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5" name="Conector recto de flecha 24"/>
            <p:cNvCxnSpPr/>
            <p:nvPr/>
          </p:nvCxnSpPr>
          <p:spPr>
            <a:xfrm flipH="1">
              <a:off x="5650786" y="4620663"/>
              <a:ext cx="1335641" cy="670528"/>
            </a:xfrm>
            <a:prstGeom prst="straightConnector1">
              <a:avLst/>
            </a:prstGeom>
            <a:ln w="444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/>
            <p:cNvCxnSpPr/>
            <p:nvPr/>
          </p:nvCxnSpPr>
          <p:spPr>
            <a:xfrm flipH="1" flipV="1">
              <a:off x="6408712" y="4186584"/>
              <a:ext cx="577715" cy="274472"/>
            </a:xfrm>
            <a:prstGeom prst="straightConnector1">
              <a:avLst/>
            </a:prstGeom>
            <a:ln w="444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uadroTexto 23"/>
          <p:cNvSpPr txBox="1"/>
          <p:nvPr/>
        </p:nvSpPr>
        <p:spPr>
          <a:xfrm>
            <a:off x="9491505" y="4479500"/>
            <a:ext cx="2495811" cy="584775"/>
          </a:xfrm>
          <a:prstGeom prst="rect">
            <a:avLst/>
          </a:prstGeom>
          <a:noFill/>
          <a:ln w="53975">
            <a:solidFill>
              <a:schemeClr val="accent3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s-ES" sz="3200" dirty="0"/>
              <a:t>STOCKS PNDB</a:t>
            </a:r>
          </a:p>
        </p:txBody>
      </p:sp>
      <p:sp>
        <p:nvSpPr>
          <p:cNvPr id="10" name="Flecha izquierda y derecha 9"/>
          <p:cNvSpPr/>
          <p:nvPr/>
        </p:nvSpPr>
        <p:spPr>
          <a:xfrm>
            <a:off x="8936610" y="4685123"/>
            <a:ext cx="443060" cy="167464"/>
          </a:xfrm>
          <a:prstGeom prst="left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5687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2548632" y="295275"/>
            <a:ext cx="5791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noProof="0" dirty="0">
                <a:solidFill>
                  <a:srgbClr val="0070C0"/>
                </a:solidFill>
                <a:latin typeface="Consolas" panose="020B0609020204030204" pitchFamily="49" charset="0"/>
              </a:rPr>
              <a:t>INTERACCIÓN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</a:rPr>
              <a:t> QUAR - PROYECTOS PNDB</a:t>
            </a:r>
          </a:p>
        </p:txBody>
      </p:sp>
      <p:grpSp>
        <p:nvGrpSpPr>
          <p:cNvPr id="17" name="Grupo 16"/>
          <p:cNvGrpSpPr/>
          <p:nvPr/>
        </p:nvGrpSpPr>
        <p:grpSpPr>
          <a:xfrm>
            <a:off x="7095584" y="2679668"/>
            <a:ext cx="4135157" cy="2062103"/>
            <a:chOff x="7162259" y="2422493"/>
            <a:chExt cx="4135157" cy="2062103"/>
          </a:xfrm>
        </p:grpSpPr>
        <p:sp>
          <p:nvSpPr>
            <p:cNvPr id="18" name="Rectángulo 17"/>
            <p:cNvSpPr>
              <a:spLocks noChangeAspect="1"/>
            </p:cNvSpPr>
            <p:nvPr/>
          </p:nvSpPr>
          <p:spPr>
            <a:xfrm>
              <a:off x="7162259" y="2422493"/>
              <a:ext cx="4135157" cy="2062103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s-ES" dirty="0">
                  <a:solidFill>
                    <a:srgbClr val="0070C0"/>
                  </a:solidFill>
                  <a:latin typeface="Consolas" panose="020B0609020204030204" pitchFamily="49" charset="0"/>
                </a:rPr>
                <a:t>QUAR PROYECTO</a:t>
              </a:r>
              <a:r>
                <a:rPr lang="es-ES" sz="2000" dirty="0">
                  <a:solidFill>
                    <a:srgbClr val="0070C0"/>
                  </a:solidFill>
                  <a:latin typeface="Consolas" panose="020B0609020204030204" pitchFamily="49" charset="0"/>
                </a:rPr>
                <a:t> </a:t>
              </a:r>
              <a:r>
                <a:rPr lang="es-ES" dirty="0">
                  <a:solidFill>
                    <a:srgbClr val="0070C0"/>
                  </a:solidFill>
                  <a:latin typeface="Consolas" panose="020B0609020204030204" pitchFamily="49" charset="0"/>
                </a:rPr>
                <a:t>PNDB TRANSVERSAL </a:t>
              </a:r>
            </a:p>
            <a:p>
              <a:pPr lvl="0" algn="ctr">
                <a:defRPr/>
              </a:pPr>
              <a:r>
                <a:rPr lang="es-ES" dirty="0">
                  <a:solidFill>
                    <a:srgbClr val="0070C0"/>
                  </a:solidFill>
                  <a:latin typeface="Consolas" panose="020B0609020204030204" pitchFamily="49" charset="0"/>
                </a:rPr>
                <a:t>ÁREA DE PESCA IEO</a:t>
              </a:r>
            </a:p>
            <a:p>
              <a:pPr lvl="0" algn="ctr">
                <a:defRPr/>
              </a:pPr>
              <a:endParaRPr lang="es-ES" dirty="0">
                <a:solidFill>
                  <a:srgbClr val="0070C0"/>
                </a:solidFill>
                <a:latin typeface="Consolas" panose="020B0609020204030204" pitchFamily="49" charset="0"/>
              </a:endParaRPr>
            </a:p>
            <a:p>
              <a:pPr lvl="0" algn="ctr">
                <a:defRPr/>
              </a:pPr>
              <a:endParaRPr lang="es-ES" dirty="0">
                <a:solidFill>
                  <a:srgbClr val="0070C0"/>
                </a:solidFill>
                <a:latin typeface="Consolas" panose="020B0609020204030204" pitchFamily="49" charset="0"/>
              </a:endParaRPr>
            </a:p>
            <a:p>
              <a:pPr lvl="0" algn="ctr">
                <a:defRPr/>
              </a:pPr>
              <a:endParaRPr lang="es-ES" dirty="0">
                <a:solidFill>
                  <a:srgbClr val="0070C0"/>
                </a:solidFill>
                <a:latin typeface="Consolas" panose="020B0609020204030204" pitchFamily="49" charset="0"/>
              </a:endParaRPr>
            </a:p>
            <a:p>
              <a:pPr lvl="0" algn="ctr">
                <a:defRPr/>
              </a:pPr>
              <a:endParaRPr lang="es-ES" dirty="0">
                <a:solidFill>
                  <a:srgbClr val="0070C0"/>
                </a:solidFill>
                <a:latin typeface="Consolas" panose="020B0609020204030204" pitchFamily="49" charset="0"/>
              </a:endParaRPr>
            </a:p>
            <a:p>
              <a:pPr lvl="0" algn="ctr">
                <a:defRPr/>
              </a:pPr>
              <a:endParaRPr lang="es-ES" dirty="0">
                <a:solidFill>
                  <a:srgbClr val="0070C0"/>
                </a:solidFill>
                <a:latin typeface="Consolas" panose="020B0609020204030204" pitchFamily="49" charset="0"/>
              </a:endParaRPr>
            </a:p>
          </p:txBody>
        </p:sp>
        <p:grpSp>
          <p:nvGrpSpPr>
            <p:cNvPr id="4" name="Grupo 3"/>
            <p:cNvGrpSpPr>
              <a:grpSpLocks noChangeAspect="1"/>
            </p:cNvGrpSpPr>
            <p:nvPr/>
          </p:nvGrpSpPr>
          <p:grpSpPr>
            <a:xfrm>
              <a:off x="7171805" y="3140739"/>
              <a:ext cx="2274145" cy="1332000"/>
              <a:chOff x="7086809" y="2988339"/>
              <a:chExt cx="4671202" cy="2736000"/>
            </a:xfrm>
          </p:grpSpPr>
          <p:pic>
            <p:nvPicPr>
              <p:cNvPr id="5" name="Picture 2" descr="Acerca del IEO - Instituto Español de Oceanografía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086809" y="2988339"/>
                <a:ext cx="4671202" cy="2736000"/>
              </a:xfrm>
              <a:prstGeom prst="rect">
                <a:avLst/>
              </a:prstGeom>
              <a:noFill/>
              <a:ln w="15875">
                <a:solidFill>
                  <a:srgbClr val="FF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" name="Estrella de 5 puntas 5"/>
              <p:cNvSpPr>
                <a:spLocks noChangeAspect="1"/>
              </p:cNvSpPr>
              <p:nvPr/>
            </p:nvSpPr>
            <p:spPr>
              <a:xfrm>
                <a:off x="9267290" y="5167903"/>
                <a:ext cx="216000" cy="216000"/>
              </a:xfrm>
              <a:prstGeom prst="star5">
                <a:avLst/>
              </a:prstGeom>
              <a:solidFill>
                <a:srgbClr val="FF0000"/>
              </a:solidFill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>
                  <a:solidFill>
                    <a:srgbClr val="FF0000"/>
                  </a:solidFill>
                </a:endParaRPr>
              </a:p>
            </p:txBody>
          </p:sp>
          <p:sp>
            <p:nvSpPr>
              <p:cNvPr id="7" name="Estrella de 5 puntas 6"/>
              <p:cNvSpPr>
                <a:spLocks noChangeAspect="1"/>
              </p:cNvSpPr>
              <p:nvPr/>
            </p:nvSpPr>
            <p:spPr>
              <a:xfrm>
                <a:off x="8277412" y="2988339"/>
                <a:ext cx="216000" cy="216000"/>
              </a:xfrm>
              <a:prstGeom prst="star5">
                <a:avLst/>
              </a:prstGeom>
              <a:solidFill>
                <a:srgbClr val="FF0000"/>
              </a:solidFill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>
                  <a:solidFill>
                    <a:srgbClr val="FF0000"/>
                  </a:solidFill>
                </a:endParaRPr>
              </a:p>
            </p:txBody>
          </p:sp>
          <p:sp>
            <p:nvSpPr>
              <p:cNvPr id="8" name="Estrella de 5 puntas 7"/>
              <p:cNvSpPr>
                <a:spLocks noChangeAspect="1"/>
              </p:cNvSpPr>
              <p:nvPr/>
            </p:nvSpPr>
            <p:spPr>
              <a:xfrm>
                <a:off x="8752512" y="5211408"/>
                <a:ext cx="216000" cy="216000"/>
              </a:xfrm>
              <a:prstGeom prst="star5">
                <a:avLst/>
              </a:prstGeom>
              <a:solidFill>
                <a:srgbClr val="FF0000"/>
              </a:solidFill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>
                  <a:solidFill>
                    <a:srgbClr val="FF0000"/>
                  </a:solidFill>
                </a:endParaRPr>
              </a:p>
            </p:txBody>
          </p:sp>
          <p:sp>
            <p:nvSpPr>
              <p:cNvPr id="9" name="Estrella de 5 puntas 8"/>
              <p:cNvSpPr>
                <a:spLocks noChangeAspect="1"/>
              </p:cNvSpPr>
              <p:nvPr/>
            </p:nvSpPr>
            <p:spPr>
              <a:xfrm>
                <a:off x="9378715" y="2988339"/>
                <a:ext cx="216000" cy="216000"/>
              </a:xfrm>
              <a:prstGeom prst="star5">
                <a:avLst/>
              </a:prstGeom>
              <a:solidFill>
                <a:srgbClr val="FF0000"/>
              </a:solidFill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Estrella de 5 puntas 9"/>
              <p:cNvSpPr>
                <a:spLocks noChangeAspect="1"/>
              </p:cNvSpPr>
              <p:nvPr/>
            </p:nvSpPr>
            <p:spPr>
              <a:xfrm>
                <a:off x="9429964" y="3943567"/>
                <a:ext cx="216000" cy="216000"/>
              </a:xfrm>
              <a:prstGeom prst="star5">
                <a:avLst/>
              </a:prstGeom>
              <a:solidFill>
                <a:srgbClr val="FF0000"/>
              </a:solidFill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>
                  <a:solidFill>
                    <a:srgbClr val="FF0000"/>
                  </a:solidFill>
                </a:endParaRPr>
              </a:p>
            </p:txBody>
          </p:sp>
        </p:grpSp>
      </p:grpSp>
      <p:sp>
        <p:nvSpPr>
          <p:cNvPr id="12" name="Rectángulo 11"/>
          <p:cNvSpPr/>
          <p:nvPr/>
        </p:nvSpPr>
        <p:spPr>
          <a:xfrm>
            <a:off x="6810375" y="812768"/>
            <a:ext cx="4829175" cy="1415772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PROYECTOS</a:t>
            </a:r>
            <a:r>
              <a:rPr lang="es-ES" sz="2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PNDB 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EVAPESLE4, BIOPESLE4, EVALICES, ARPA5, GPM_17_19, EPAFRIK-BADE3</a:t>
            </a:r>
          </a:p>
          <a:p>
            <a:pPr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REUNIONES PNDB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E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valuación de especies, Comités científicos, Grupos de métodos, otros WG relacionados con evaluación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209549" y="2927318"/>
            <a:ext cx="5751022" cy="267765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 algn="just"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R </a:t>
            </a:r>
            <a:r>
              <a:rPr lang="es-ES" dirty="0" err="1">
                <a:solidFill>
                  <a:srgbClr val="0070C0"/>
                </a:solidFill>
                <a:latin typeface="Consolas" panose="020B0609020204030204" pitchFamily="49" charset="0"/>
              </a:rPr>
              <a:t>packages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lvl="0" algn="just">
              <a:defRPr/>
            </a:pPr>
            <a:r>
              <a:rPr lang="es-ES" sz="1600" dirty="0">
                <a:solidFill>
                  <a:srgbClr val="0070C0"/>
                </a:solidFill>
                <a:latin typeface="Consolas" panose="020B0609020204030204" pitchFamily="49" charset="0"/>
              </a:rPr>
              <a:t>Evaluación stocks y pesca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s-ES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FLBeia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, FLR, </a:t>
            </a:r>
            <a:r>
              <a:rPr lang="es-ES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SPiCT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, JABBA,</a:t>
            </a:r>
            <a:r>
              <a:rPr lang="es-ES" sz="1600" dirty="0">
                <a:latin typeface="Consolas" panose="020B0609020204030204" pitchFamily="49" charset="0"/>
              </a:rPr>
              <a:t> LBI, LBSPR, </a:t>
            </a:r>
            <a:r>
              <a:rPr lang="es-ES" sz="1600" dirty="0" err="1">
                <a:latin typeface="Consolas" panose="020B0609020204030204" pitchFamily="49" charset="0"/>
              </a:rPr>
              <a:t>BycatchEstimator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sizeMat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openMSE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nswo-mse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abft-mse</a:t>
            </a:r>
            <a:r>
              <a:rPr lang="es-ES" sz="1600" dirty="0">
                <a:latin typeface="Consolas" panose="020B0609020204030204" pitchFamily="49" charset="0"/>
              </a:rPr>
              <a:t>, a4a, gadget3, gadget2, r4ss, </a:t>
            </a:r>
            <a:r>
              <a:rPr lang="es-ES" sz="1600" dirty="0" err="1">
                <a:latin typeface="Consolas" panose="020B0609020204030204" pitchFamily="49" charset="0"/>
              </a:rPr>
              <a:t>VMStools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FishTrop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FLCore</a:t>
            </a:r>
            <a:r>
              <a:rPr lang="es-ES" sz="1600" dirty="0">
                <a:latin typeface="Consolas" panose="020B0609020204030204" pitchFamily="49" charset="0"/>
              </a:rPr>
              <a:t>, FLBRP, etc.</a:t>
            </a:r>
          </a:p>
          <a:p>
            <a:pPr lvl="0" algn="just">
              <a:defRPr/>
            </a:pPr>
            <a:r>
              <a:rPr lang="es-ES" sz="1600" dirty="0">
                <a:solidFill>
                  <a:srgbClr val="0070C0"/>
                </a:solidFill>
                <a:latin typeface="Consolas" panose="020B0609020204030204" pitchFamily="49" charset="0"/>
              </a:rPr>
              <a:t>Estadísticos</a:t>
            </a:r>
            <a:r>
              <a:rPr lang="es-ES" dirty="0"/>
              <a:t> </a:t>
            </a:r>
            <a:r>
              <a:rPr lang="es-ES" sz="1600" dirty="0" err="1">
                <a:latin typeface="Consolas" panose="020B0609020204030204" pitchFamily="49" charset="0"/>
              </a:rPr>
              <a:t>glmmTMB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lsmeans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mgcv</a:t>
            </a:r>
            <a:r>
              <a:rPr lang="es-ES" sz="1600" dirty="0">
                <a:latin typeface="Consolas" panose="020B0609020204030204" pitchFamily="49" charset="0"/>
              </a:rPr>
              <a:t>, eR2WINBUGS, </a:t>
            </a:r>
            <a:r>
              <a:rPr lang="es-ES" sz="1600" dirty="0" err="1">
                <a:latin typeface="Consolas" panose="020B0609020204030204" pitchFamily="49" charset="0"/>
              </a:rPr>
              <a:t>rjags</a:t>
            </a:r>
            <a:r>
              <a:rPr lang="es-ES" sz="1600" dirty="0">
                <a:latin typeface="Consolas" panose="020B0609020204030204" pitchFamily="49" charset="0"/>
              </a:rPr>
              <a:t>, etc.</a:t>
            </a:r>
            <a:endParaRPr lang="es-ES" dirty="0">
              <a:latin typeface="Consolas" panose="020B0609020204030204" pitchFamily="49" charset="0"/>
            </a:endParaRPr>
          </a:p>
          <a:p>
            <a:pPr lvl="0" algn="just">
              <a:defRPr/>
            </a:pPr>
            <a:r>
              <a:rPr lang="es-ES" sz="1600" dirty="0">
                <a:solidFill>
                  <a:srgbClr val="0070C0"/>
                </a:solidFill>
                <a:latin typeface="Consolas" panose="020B0609020204030204" pitchFamily="49" charset="0"/>
              </a:rPr>
              <a:t>Espaciales</a:t>
            </a:r>
            <a:r>
              <a:rPr lang="es-ES" dirty="0"/>
              <a:t> </a:t>
            </a:r>
            <a:r>
              <a:rPr lang="es-ES" sz="1600" dirty="0" err="1">
                <a:latin typeface="Consolas" panose="020B0609020204030204" pitchFamily="49" charset="0"/>
              </a:rPr>
              <a:t>sdmTMB</a:t>
            </a:r>
            <a:r>
              <a:rPr lang="es-ES" sz="1600" dirty="0">
                <a:latin typeface="Consolas" panose="020B0609020204030204" pitchFamily="49" charset="0"/>
              </a:rPr>
              <a:t>, INLA, </a:t>
            </a:r>
            <a:r>
              <a:rPr lang="es-ES" sz="1600" dirty="0" err="1">
                <a:latin typeface="Consolas" panose="020B0609020204030204" pitchFamily="49" charset="0"/>
              </a:rPr>
              <a:t>sf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rnaturalearth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maps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rgeos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marmap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rnaturalearthdata</a:t>
            </a:r>
            <a:r>
              <a:rPr lang="es-ES" sz="1600" dirty="0">
                <a:latin typeface="Consolas" panose="020B0609020204030204" pitchFamily="49" charset="0"/>
              </a:rPr>
              <a:t>, </a:t>
            </a:r>
            <a:r>
              <a:rPr lang="es-ES" sz="1600" dirty="0" err="1">
                <a:latin typeface="Consolas" panose="020B0609020204030204" pitchFamily="49" charset="0"/>
              </a:rPr>
              <a:t>rgdal</a:t>
            </a:r>
            <a:r>
              <a:rPr lang="es-ES" sz="1600" dirty="0">
                <a:latin typeface="Consolas" panose="020B0609020204030204" pitchFamily="49" charset="0"/>
              </a:rPr>
              <a:t>, etc.</a:t>
            </a:r>
            <a:endParaRPr lang="es-ES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209549" y="822293"/>
            <a:ext cx="5751022" cy="163121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 algn="just"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ORPS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ICES, CGPM, NAFO, ICCAT, IOTC, CECAF</a:t>
            </a:r>
          </a:p>
          <a:p>
            <a:pPr lvl="0" algn="just"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STOCKS</a:t>
            </a:r>
            <a:r>
              <a:rPr lang="es-ES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s-ES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Balacao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 NAFO, Anchoa, sardina, jurel y pesquerías mixtas 9a, lenguado 8c y 9a ICES, atún rojo, pez espada, </a:t>
            </a:r>
            <a:r>
              <a:rPr lang="es-ES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túnidos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 tropicales, atún blanco de ICCAT, </a:t>
            </a:r>
            <a:r>
              <a:rPr lang="es-ES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túnidos</a:t>
            </a:r>
            <a:r>
              <a:rPr lang="es-ES" sz="1600" dirty="0">
                <a:solidFill>
                  <a:prstClr val="black"/>
                </a:solidFill>
                <a:latin typeface="Consolas" panose="020B0609020204030204" pitchFamily="49" charset="0"/>
              </a:rPr>
              <a:t> tropicales IOTC, voraz CGPM, merluzas negras, palometa, descartes CECAF</a:t>
            </a:r>
          </a:p>
        </p:txBody>
      </p:sp>
      <p:sp>
        <p:nvSpPr>
          <p:cNvPr id="11" name="Más 10"/>
          <p:cNvSpPr>
            <a:spLocks noChangeAspect="1"/>
          </p:cNvSpPr>
          <p:nvPr/>
        </p:nvSpPr>
        <p:spPr>
          <a:xfrm>
            <a:off x="6229346" y="1362074"/>
            <a:ext cx="312254" cy="324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ás 15"/>
          <p:cNvSpPr>
            <a:spLocks noChangeAspect="1"/>
          </p:cNvSpPr>
          <p:nvPr/>
        </p:nvSpPr>
        <p:spPr>
          <a:xfrm>
            <a:off x="2638421" y="2533649"/>
            <a:ext cx="312254" cy="324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Igual que 14"/>
          <p:cNvSpPr>
            <a:spLocks noChangeAspect="1"/>
          </p:cNvSpPr>
          <p:nvPr/>
        </p:nvSpPr>
        <p:spPr>
          <a:xfrm>
            <a:off x="9010650" y="4838700"/>
            <a:ext cx="324000" cy="324000"/>
          </a:xfrm>
          <a:prstGeom prst="mathEqual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0" name="Más 19"/>
          <p:cNvSpPr>
            <a:spLocks noChangeAspect="1"/>
          </p:cNvSpPr>
          <p:nvPr/>
        </p:nvSpPr>
        <p:spPr>
          <a:xfrm>
            <a:off x="9010646" y="2295524"/>
            <a:ext cx="312254" cy="324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Rectángulo redondeado 18"/>
          <p:cNvSpPr/>
          <p:nvPr/>
        </p:nvSpPr>
        <p:spPr>
          <a:xfrm>
            <a:off x="6838431" y="5200799"/>
            <a:ext cx="4801120" cy="1551879"/>
          </a:xfrm>
          <a:prstGeom prst="roundRect">
            <a:avLst/>
          </a:prstGeom>
          <a:noFill/>
          <a:ln w="444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/>
          <p:cNvSpPr/>
          <p:nvPr/>
        </p:nvSpPr>
        <p:spPr>
          <a:xfrm>
            <a:off x="6838431" y="5275351"/>
            <a:ext cx="480111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0070C0"/>
                </a:solidFill>
              </a:rPr>
              <a:t>EQUIPO REFERENTE EN EL IEO-PESCA</a:t>
            </a:r>
          </a:p>
          <a:p>
            <a:r>
              <a:rPr lang="es-ES" dirty="0"/>
              <a:t>alto conocimiento matemático, estadístico y </a:t>
            </a:r>
          </a:p>
          <a:p>
            <a:r>
              <a:rPr lang="es-ES" dirty="0"/>
              <a:t>computacional al servicio del PNDB con </a:t>
            </a:r>
          </a:p>
          <a:p>
            <a:r>
              <a:rPr lang="es-ES" dirty="0"/>
              <a:t>capacidad de afrontar los retos metodológicos </a:t>
            </a:r>
          </a:p>
          <a:p>
            <a:r>
              <a:rPr lang="es-ES" dirty="0"/>
              <a:t>en evaluación de stocks</a:t>
            </a:r>
          </a:p>
        </p:txBody>
      </p:sp>
    </p:spTree>
    <p:extLst>
      <p:ext uri="{BB962C8B-B14F-4D97-AF65-F5344CB8AC3E}">
        <p14:creationId xmlns:p14="http://schemas.microsoft.com/office/powerpoint/2010/main" val="292510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2" y="776290"/>
            <a:ext cx="4808718" cy="3420000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5" name="CuadroTexto 4"/>
          <p:cNvSpPr txBox="1"/>
          <p:nvPr/>
        </p:nvSpPr>
        <p:spPr>
          <a:xfrm>
            <a:off x="4295775" y="200025"/>
            <a:ext cx="360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QUAR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</a:rPr>
              <a:t>GRUPOS DE TRABAJO PNDB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812" y="804862"/>
            <a:ext cx="4676898" cy="3420000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029075" y="4610100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>
                <a:solidFill>
                  <a:srgbClr val="0070C0"/>
                </a:solidFill>
                <a:latin typeface="Consolas" panose="020B0609020204030204" pitchFamily="49" charset="0"/>
              </a:rPr>
              <a:t>QUAR SIMPOSIOS Y CONGRESOS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</a:rPr>
              <a:t>PNDB</a:t>
            </a:r>
          </a:p>
        </p:txBody>
      </p:sp>
      <p:pic>
        <p:nvPicPr>
          <p:cNvPr id="3074" name="Picture 2" descr="Inicio - ISMS Valencia 202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6775" y="5200650"/>
            <a:ext cx="85467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Echoview Software on LinkedIn: Call for abstract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5229225"/>
            <a:ext cx="192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Abiertas las inscripciones para la sexta edición de Sibecorp que se  celebrará en Lisboa en 202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6851" y="5243512"/>
            <a:ext cx="1718181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Comunidad R Hispano en LinkedIn: #r #rtieneuncolorespecial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6651" y="5199062"/>
            <a:ext cx="2367123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91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redondeado 12"/>
          <p:cNvSpPr/>
          <p:nvPr/>
        </p:nvSpPr>
        <p:spPr>
          <a:xfrm>
            <a:off x="1495425" y="3733800"/>
            <a:ext cx="4469262" cy="291465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/>
        </p:nvSpPr>
        <p:spPr>
          <a:xfrm>
            <a:off x="6838950" y="3790950"/>
            <a:ext cx="4459737" cy="2914650"/>
          </a:xfrm>
          <a:prstGeom prst="round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Rectángulo redondeado 14"/>
          <p:cNvSpPr/>
          <p:nvPr/>
        </p:nvSpPr>
        <p:spPr>
          <a:xfrm>
            <a:off x="6838950" y="771525"/>
            <a:ext cx="4440687" cy="2914650"/>
          </a:xfrm>
          <a:prstGeom prst="round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redondeado 1"/>
          <p:cNvSpPr/>
          <p:nvPr/>
        </p:nvSpPr>
        <p:spPr>
          <a:xfrm>
            <a:off x="1514475" y="714375"/>
            <a:ext cx="4450212" cy="2914650"/>
          </a:xfrm>
          <a:prstGeom prst="round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/>
          <p:cNvSpPr txBox="1"/>
          <p:nvPr/>
        </p:nvSpPr>
        <p:spPr>
          <a:xfrm>
            <a:off x="5840862" y="3385550"/>
            <a:ext cx="10887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>
                <a:solidFill>
                  <a:srgbClr val="FF9900"/>
                </a:solidFill>
                <a:latin typeface="Consolas" panose="020B0609020204030204" pitchFamily="49" charset="0"/>
              </a:rPr>
              <a:t>D</a:t>
            </a:r>
            <a:r>
              <a:rPr lang="es-ES" sz="3200" dirty="0">
                <a:solidFill>
                  <a:srgbClr val="CC9900"/>
                </a:solidFill>
                <a:latin typeface="Consolas" panose="020B0609020204030204" pitchFamily="49" charset="0"/>
              </a:rPr>
              <a:t>A</a:t>
            </a:r>
            <a:r>
              <a:rPr lang="es-ES" sz="3200" dirty="0">
                <a:solidFill>
                  <a:srgbClr val="006600"/>
                </a:solidFill>
                <a:latin typeface="Consolas" panose="020B0609020204030204" pitchFamily="49" charset="0"/>
              </a:rPr>
              <a:t>F</a:t>
            </a:r>
            <a:r>
              <a:rPr lang="es-ES" sz="3200" dirty="0">
                <a:solidFill>
                  <a:srgbClr val="669900"/>
                </a:solidFill>
                <a:latin typeface="Consolas" panose="020B0609020204030204" pitchFamily="49" charset="0"/>
              </a:rPr>
              <a:t>O</a:t>
            </a:r>
            <a:endParaRPr lang="es-ES" dirty="0">
              <a:solidFill>
                <a:srgbClr val="6699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ángulo 3"/>
          <p:cNvSpPr/>
          <p:nvPr/>
        </p:nvSpPr>
        <p:spPr>
          <a:xfrm>
            <a:off x="1514474" y="716890"/>
            <a:ext cx="430275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>
                <a:solidFill>
                  <a:srgbClr val="FF9900"/>
                </a:solidFill>
                <a:latin typeface="Consolas" panose="020B0609020204030204" pitchFamily="49" charset="0"/>
              </a:rPr>
              <a:t>D</a:t>
            </a:r>
            <a:r>
              <a:rPr lang="es-ES" dirty="0">
                <a:solidFill>
                  <a:srgbClr val="FF9900"/>
                </a:solidFill>
                <a:latin typeface="Consolas" panose="020B0609020204030204" pitchFamily="49" charset="0"/>
              </a:rPr>
              <a:t>ebilidades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Bajo porcentaje horas dedicación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Elevada  carga de trabajo.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Difícil coordinación actividades con otros proyectos.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Necesidad de personal con dedicación completa al proyecto.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Falta de recursos para la necesaria formación continua interna y en el área de pesca.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FF9900"/>
                </a:solidFill>
                <a:latin typeface="Consolas" panose="020B0609020204030204" pitchFamily="49" charset="0"/>
              </a:rPr>
              <a:t>Desarrollo software R IEO. </a:t>
            </a:r>
          </a:p>
          <a:p>
            <a:pPr algn="just"/>
            <a:endParaRPr lang="es-ES" dirty="0">
              <a:solidFill>
                <a:srgbClr val="FF9900"/>
              </a:solidFill>
            </a:endParaRPr>
          </a:p>
        </p:txBody>
      </p:sp>
      <p:sp>
        <p:nvSpPr>
          <p:cNvPr id="10" name="Rectángulo 9"/>
          <p:cNvSpPr/>
          <p:nvPr/>
        </p:nvSpPr>
        <p:spPr>
          <a:xfrm>
            <a:off x="7115175" y="3787148"/>
            <a:ext cx="4048125" cy="29084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>
                <a:solidFill>
                  <a:srgbClr val="669900"/>
                </a:solidFill>
                <a:latin typeface="Consolas" panose="020B0609020204030204" pitchFamily="49" charset="0"/>
              </a:rPr>
              <a:t>O</a:t>
            </a:r>
            <a:r>
              <a:rPr lang="es-ES" dirty="0">
                <a:solidFill>
                  <a:srgbClr val="669900"/>
                </a:solidFill>
                <a:latin typeface="Consolas" panose="020B0609020204030204" pitchFamily="49" charset="0"/>
              </a:rPr>
              <a:t>portunidades</a:t>
            </a:r>
            <a:endParaRPr lang="es-ES" sz="1500" dirty="0">
              <a:solidFill>
                <a:srgbClr val="669900"/>
              </a:solidFill>
              <a:latin typeface="Consolas" panose="020B0609020204030204" pitchFamily="49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Bajo coste del proyecto.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Estabilidad  a medio plazo FEMPA.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Financiación externa Plan Estatal de I+D+I.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Contratación PNDB.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Nuevas incorporaciones OEP.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Impacto en la sociedad.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Proyecto necesario y demandado en el área de pesca.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669900"/>
                </a:solidFill>
                <a:latin typeface="Consolas" panose="020B0609020204030204" pitchFamily="49" charset="0"/>
              </a:rPr>
              <a:t>Referente en evaluación de stocks en el área de pesca.</a:t>
            </a:r>
            <a:endParaRPr lang="es-ES" dirty="0">
              <a:solidFill>
                <a:srgbClr val="669900"/>
              </a:solidFill>
            </a:endParaRPr>
          </a:p>
        </p:txBody>
      </p:sp>
      <p:sp>
        <p:nvSpPr>
          <p:cNvPr id="11" name="Rectángulo 10"/>
          <p:cNvSpPr/>
          <p:nvPr/>
        </p:nvSpPr>
        <p:spPr>
          <a:xfrm>
            <a:off x="6953249" y="723744"/>
            <a:ext cx="4302759" cy="2831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>
                <a:solidFill>
                  <a:srgbClr val="CC9900"/>
                </a:solidFill>
                <a:latin typeface="Consolas" panose="020B0609020204030204" pitchFamily="49" charset="0"/>
              </a:rPr>
              <a:t>A</a:t>
            </a:r>
            <a:r>
              <a:rPr lang="es-ES" dirty="0">
                <a:solidFill>
                  <a:srgbClr val="CC9900"/>
                </a:solidFill>
                <a:latin typeface="Consolas" panose="020B0609020204030204" pitchFamily="49" charset="0"/>
              </a:rPr>
              <a:t>menazas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CC9900"/>
                </a:solidFill>
                <a:latin typeface="Consolas" panose="020B0609020204030204" pitchFamily="49" charset="0"/>
              </a:rPr>
              <a:t>Pérdida de presencia de pesca dentro de las áreas del IEO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CC9900"/>
                </a:solidFill>
                <a:latin typeface="Consolas" panose="020B0609020204030204" pitchFamily="49" charset="0"/>
              </a:rPr>
              <a:t>Liderazgo en grupos internacionales de métodos de evaluación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CC9900"/>
                </a:solidFill>
                <a:latin typeface="Consolas" panose="020B0609020204030204" pitchFamily="49" charset="0"/>
              </a:rPr>
              <a:t>Dificultades administrativas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CC9900"/>
                </a:solidFill>
                <a:latin typeface="Consolas" panose="020B0609020204030204" pitchFamily="49" charset="0"/>
              </a:rPr>
              <a:t>Disciplina menos popular y desconocida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CC9900"/>
                </a:solidFill>
                <a:latin typeface="Consolas" panose="020B0609020204030204" pitchFamily="49" charset="0"/>
              </a:rPr>
              <a:t>Confusión con otros proyectos por desconocimiento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1495425" y="3783722"/>
            <a:ext cx="4469262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>
                <a:solidFill>
                  <a:srgbClr val="006600"/>
                </a:solidFill>
                <a:latin typeface="Consolas" panose="020B0609020204030204" pitchFamily="49" charset="0"/>
              </a:rPr>
              <a:t>F</a:t>
            </a:r>
            <a:r>
              <a:rPr lang="es-ES" dirty="0">
                <a:solidFill>
                  <a:srgbClr val="006600"/>
                </a:solidFill>
                <a:latin typeface="Consolas" panose="020B0609020204030204" pitchFamily="49" charset="0"/>
              </a:rPr>
              <a:t>ortalezas</a:t>
            </a:r>
            <a:endParaRPr lang="es-ES" sz="1600" dirty="0">
              <a:solidFill>
                <a:srgbClr val="006600"/>
              </a:solidFill>
              <a:latin typeface="Consolas" panose="020B0609020204030204" pitchFamily="49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Formación altamente cualificada matemática, estadística y computacional.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Capacidad de afrontar los retos metodológicos en evaluación de stocks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Difusión resultados: publicaciones revistas impacto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Visión global necesidades modelización pesca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Alta motivación trabajo en equipo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006600"/>
                </a:solidFill>
                <a:latin typeface="Consolas" panose="020B0609020204030204" pitchFamily="49" charset="0"/>
              </a:rPr>
              <a:t>Capacidad de aprendizaje y adaptación a retos metodológicos</a:t>
            </a:r>
          </a:p>
        </p:txBody>
      </p:sp>
    </p:spTree>
    <p:extLst>
      <p:ext uri="{BB962C8B-B14F-4D97-AF65-F5344CB8AC3E}">
        <p14:creationId xmlns:p14="http://schemas.microsoft.com/office/powerpoint/2010/main" val="95470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5124555" y="1948934"/>
            <a:ext cx="19591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rgbClr val="FF0000"/>
                </a:solidFill>
                <a:latin typeface="Consolas" panose="020B0609020204030204" pitchFamily="49" charset="0"/>
              </a:rPr>
              <a:t>¡GRACIAS!</a:t>
            </a:r>
            <a:endParaRPr lang="es-ES" sz="2800" dirty="0"/>
          </a:p>
        </p:txBody>
      </p:sp>
      <p:pic>
        <p:nvPicPr>
          <p:cNvPr id="28" name="Imagen 2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024" y="2636451"/>
            <a:ext cx="1579001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396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2471</TotalTime>
  <Words>614</Words>
  <Application>Microsoft Office PowerPoint</Application>
  <PresentationFormat>Panorámica</PresentationFormat>
  <Paragraphs>121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Consolas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María Soto</dc:creator>
  <cp:lastModifiedBy>Lucia Arranz</cp:lastModifiedBy>
  <cp:revision>86</cp:revision>
  <cp:lastPrinted>2024-04-24T18:58:46Z</cp:lastPrinted>
  <dcterms:created xsi:type="dcterms:W3CDTF">2024-04-18T06:41:49Z</dcterms:created>
  <dcterms:modified xsi:type="dcterms:W3CDTF">2025-12-01T09:27:33Z</dcterms:modified>
</cp:coreProperties>
</file>