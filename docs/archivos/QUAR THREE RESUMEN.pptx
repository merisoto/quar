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1"/>
  </p:handoutMasterIdLst>
  <p:sldIdLst>
    <p:sldId id="256" r:id="rId2"/>
    <p:sldId id="265" r:id="rId3"/>
    <p:sldId id="262" r:id="rId4"/>
    <p:sldId id="261" r:id="rId5"/>
    <p:sldId id="267" r:id="rId6"/>
    <p:sldId id="268" r:id="rId7"/>
    <p:sldId id="260" r:id="rId8"/>
    <p:sldId id="263" r:id="rId9"/>
    <p:sldId id="269" r:id="rId10"/>
  </p:sldIdLst>
  <p:sldSz cx="12192000" cy="6858000"/>
  <p:notesSz cx="6797675" cy="9926638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33"/>
    <a:srgbClr val="669900"/>
    <a:srgbClr val="006600"/>
    <a:srgbClr val="CC9900"/>
    <a:srgbClr val="FF9900"/>
    <a:srgbClr val="CCFF66"/>
    <a:srgbClr val="99FF99"/>
    <a:srgbClr val="FFFFCC"/>
    <a:srgbClr val="FFFF99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72" y="16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C54B1-5C3A-411D-B32A-189F18836054}" type="datetimeFigureOut">
              <a:rPr lang="es-ES" smtClean="0"/>
              <a:t>24/04/2024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1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50444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DF9112-9D01-4245-B913-A1C180D861B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92299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16BDB-D744-4144-8E99-14325B00ED4B}" type="datetimeFigureOut">
              <a:rPr lang="es-ES" smtClean="0"/>
              <a:t>24/04/2024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78D3-BC2E-47F7-8642-CFFCC76232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8052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16BDB-D744-4144-8E99-14325B00ED4B}" type="datetimeFigureOut">
              <a:rPr lang="es-ES" smtClean="0"/>
              <a:t>24/04/2024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78D3-BC2E-47F7-8642-CFFCC76232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1098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16BDB-D744-4144-8E99-14325B00ED4B}" type="datetimeFigureOut">
              <a:rPr lang="es-ES" smtClean="0"/>
              <a:t>24/04/2024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78D3-BC2E-47F7-8642-CFFCC76232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9920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16BDB-D744-4144-8E99-14325B00ED4B}" type="datetimeFigureOut">
              <a:rPr lang="es-ES" smtClean="0"/>
              <a:t>24/04/2024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78D3-BC2E-47F7-8642-CFFCC76232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7757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16BDB-D744-4144-8E99-14325B00ED4B}" type="datetimeFigureOut">
              <a:rPr lang="es-ES" smtClean="0"/>
              <a:t>24/04/2024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78D3-BC2E-47F7-8642-CFFCC76232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3395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16BDB-D744-4144-8E99-14325B00ED4B}" type="datetimeFigureOut">
              <a:rPr lang="es-ES" smtClean="0"/>
              <a:t>24/04/2024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78D3-BC2E-47F7-8642-CFFCC76232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4124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16BDB-D744-4144-8E99-14325B00ED4B}" type="datetimeFigureOut">
              <a:rPr lang="es-ES" smtClean="0"/>
              <a:t>24/04/2024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78D3-BC2E-47F7-8642-CFFCC76232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796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16BDB-D744-4144-8E99-14325B00ED4B}" type="datetimeFigureOut">
              <a:rPr lang="es-ES" smtClean="0"/>
              <a:t>24/04/2024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78D3-BC2E-47F7-8642-CFFCC76232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047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16BDB-D744-4144-8E99-14325B00ED4B}" type="datetimeFigureOut">
              <a:rPr lang="es-ES" smtClean="0"/>
              <a:t>24/04/2024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78D3-BC2E-47F7-8642-CFFCC76232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3404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16BDB-D744-4144-8E99-14325B00ED4B}" type="datetimeFigureOut">
              <a:rPr lang="es-ES" smtClean="0"/>
              <a:t>24/04/2024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78D3-BC2E-47F7-8642-CFFCC76232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6237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16BDB-D744-4144-8E99-14325B00ED4B}" type="datetimeFigureOut">
              <a:rPr lang="es-ES" smtClean="0"/>
              <a:t>24/04/2024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78D3-BC2E-47F7-8642-CFFCC76232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8248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16BDB-D744-4144-8E99-14325B00ED4B}" type="datetimeFigureOut">
              <a:rPr lang="es-ES" smtClean="0"/>
              <a:t>24/04/2024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C78D3-BC2E-47F7-8642-CFFCC76232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6428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3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2693327" y="1960223"/>
            <a:ext cx="727635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6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Proyecto </a:t>
            </a:r>
          </a:p>
          <a:p>
            <a:pPr algn="ctr"/>
            <a:endParaRPr lang="es-ES" sz="3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ctr"/>
            <a:r>
              <a:rPr lang="es-ES" sz="36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QUAR</a:t>
            </a:r>
          </a:p>
          <a:p>
            <a:pPr algn="ctr"/>
            <a:endParaRPr lang="es-ES" sz="3600" dirty="0" smtClean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ctr"/>
            <a:r>
              <a:rPr lang="es-ES" sz="3600" dirty="0" err="1" smtClean="0">
                <a:solidFill>
                  <a:srgbClr val="0070C0"/>
                </a:solidFill>
                <a:latin typeface="Consolas" panose="020B0609020204030204" pitchFamily="49" charset="0"/>
              </a:rPr>
              <a:t>Qu</a:t>
            </a:r>
            <a:r>
              <a:rPr lang="es-ES" sz="36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antitative</a:t>
            </a:r>
            <a:r>
              <a:rPr lang="es-ES" sz="36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s-ES" sz="3600" dirty="0" err="1" smtClean="0">
                <a:solidFill>
                  <a:srgbClr val="0070C0"/>
                </a:solidFill>
                <a:latin typeface="Consolas" panose="020B0609020204030204" pitchFamily="49" charset="0"/>
              </a:rPr>
              <a:t>A</a:t>
            </a:r>
            <a:r>
              <a:rPr lang="es-ES" sz="36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ssessment</a:t>
            </a:r>
            <a:r>
              <a:rPr lang="es-ES" sz="36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in </a:t>
            </a:r>
            <a:r>
              <a:rPr lang="es-ES" sz="36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R</a:t>
            </a:r>
            <a:endParaRPr lang="es-ES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5 Rectángulo"/>
          <p:cNvSpPr/>
          <p:nvPr/>
        </p:nvSpPr>
        <p:spPr>
          <a:xfrm>
            <a:off x="9526756" y="5857789"/>
            <a:ext cx="23448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 smtClean="0">
                <a:solidFill>
                  <a:schemeClr val="tx2"/>
                </a:solidFill>
              </a:rPr>
              <a:t>maria.soto@ieo.csic.es</a:t>
            </a:r>
            <a:endParaRPr lang="es-ES" dirty="0">
              <a:solidFill>
                <a:schemeClr val="tx2"/>
              </a:solidFill>
            </a:endParaRPr>
          </a:p>
        </p:txBody>
      </p:sp>
      <p:grpSp>
        <p:nvGrpSpPr>
          <p:cNvPr id="10" name="Grupo 9"/>
          <p:cNvGrpSpPr/>
          <p:nvPr/>
        </p:nvGrpSpPr>
        <p:grpSpPr>
          <a:xfrm>
            <a:off x="0" y="6298053"/>
            <a:ext cx="12192000" cy="576000"/>
            <a:chOff x="0" y="6092569"/>
            <a:chExt cx="12192000" cy="576000"/>
          </a:xfrm>
        </p:grpSpPr>
        <p:sp>
          <p:nvSpPr>
            <p:cNvPr id="2" name="Rectángulo 1"/>
            <p:cNvSpPr/>
            <p:nvPr/>
          </p:nvSpPr>
          <p:spPr>
            <a:xfrm>
              <a:off x="0" y="6092569"/>
              <a:ext cx="12192000" cy="5760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 smtClean="0"/>
                <a:t>                                           IEO Madrid, 25 de Abril 2024</a:t>
              </a:r>
              <a:endParaRPr lang="es-ES" dirty="0"/>
            </a:p>
          </p:txBody>
        </p:sp>
        <p:pic>
          <p:nvPicPr>
            <p:cNvPr id="9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399076" y="6113117"/>
              <a:ext cx="4782650" cy="54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714885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4085802" y="441258"/>
            <a:ext cx="40270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</a:rPr>
              <a:t>EQUIPO DE TRABAJO</a:t>
            </a:r>
          </a:p>
        </p:txBody>
      </p:sp>
      <p:grpSp>
        <p:nvGrpSpPr>
          <p:cNvPr id="11" name="Grupo 10"/>
          <p:cNvGrpSpPr/>
          <p:nvPr/>
        </p:nvGrpSpPr>
        <p:grpSpPr>
          <a:xfrm>
            <a:off x="1119115" y="1321545"/>
            <a:ext cx="10067806" cy="3034794"/>
            <a:chOff x="1576315" y="1491335"/>
            <a:chExt cx="10067806" cy="3034794"/>
          </a:xfrm>
        </p:grpSpPr>
        <p:grpSp>
          <p:nvGrpSpPr>
            <p:cNvPr id="10" name="Grupo 9"/>
            <p:cNvGrpSpPr/>
            <p:nvPr/>
          </p:nvGrpSpPr>
          <p:grpSpPr>
            <a:xfrm>
              <a:off x="1576315" y="1491335"/>
              <a:ext cx="10067806" cy="1181921"/>
              <a:chOff x="1576315" y="1491335"/>
              <a:chExt cx="10067806" cy="1181921"/>
            </a:xfrm>
          </p:grpSpPr>
          <p:pic>
            <p:nvPicPr>
              <p:cNvPr id="4" name="Imagen 3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37824" y="1491335"/>
                <a:ext cx="1080000" cy="1167235"/>
              </a:xfrm>
              <a:prstGeom prst="rect">
                <a:avLst/>
              </a:prstGeom>
              <a:ln w="635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2" name="Imagen 1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99333" y="1491335"/>
                <a:ext cx="1021770" cy="1152000"/>
              </a:xfrm>
              <a:prstGeom prst="rect">
                <a:avLst/>
              </a:prstGeom>
              <a:ln w="635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6" name="Imagen 5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190" t="21815" r="32980" b="38248"/>
              <a:stretch/>
            </p:blipFill>
            <p:spPr>
              <a:xfrm>
                <a:off x="8302612" y="1506293"/>
                <a:ext cx="1080000" cy="1122083"/>
              </a:xfrm>
              <a:prstGeom prst="rect">
                <a:avLst/>
              </a:prstGeom>
              <a:ln w="635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7" name="Imagen 6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76315" y="1527336"/>
                <a:ext cx="1080000" cy="1145920"/>
              </a:xfrm>
              <a:prstGeom prst="rect">
                <a:avLst/>
              </a:prstGeom>
              <a:ln w="635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  <p:pic>
            <p:nvPicPr>
              <p:cNvPr id="8" name="Imagen 7"/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320" t="4982" r="16298" b="25344"/>
              <a:stretch/>
            </p:blipFill>
            <p:spPr>
              <a:xfrm>
                <a:off x="10564121" y="1504488"/>
                <a:ext cx="1080000" cy="1168768"/>
              </a:xfrm>
              <a:prstGeom prst="rect">
                <a:avLst/>
              </a:prstGeom>
              <a:ln w="635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</p:pic>
        </p:grpSp>
        <p:pic>
          <p:nvPicPr>
            <p:cNvPr id="9" name="Imagen 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9333" y="3214693"/>
              <a:ext cx="1080000" cy="1311436"/>
            </a:xfrm>
            <a:prstGeom prst="rect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  <p:grpSp>
        <p:nvGrpSpPr>
          <p:cNvPr id="17" name="Grupo 16"/>
          <p:cNvGrpSpPr/>
          <p:nvPr/>
        </p:nvGrpSpPr>
        <p:grpSpPr>
          <a:xfrm>
            <a:off x="7076535" y="2988339"/>
            <a:ext cx="4671202" cy="2736000"/>
            <a:chOff x="7086809" y="2988339"/>
            <a:chExt cx="4671202" cy="2736000"/>
          </a:xfrm>
        </p:grpSpPr>
        <p:pic>
          <p:nvPicPr>
            <p:cNvPr id="12" name="Picture 2" descr="Acerca del IEO - Instituto Español de Oceanografía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809" y="2988339"/>
              <a:ext cx="4671202" cy="273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Estrella de 5 puntas 2"/>
            <p:cNvSpPr>
              <a:spLocks noChangeAspect="1"/>
            </p:cNvSpPr>
            <p:nvPr/>
          </p:nvSpPr>
          <p:spPr>
            <a:xfrm>
              <a:off x="9267290" y="5167903"/>
              <a:ext cx="216000" cy="216000"/>
            </a:xfrm>
            <a:prstGeom prst="star5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rgbClr val="FF0000"/>
                </a:solidFill>
              </a:endParaRPr>
            </a:p>
          </p:txBody>
        </p:sp>
        <p:sp>
          <p:nvSpPr>
            <p:cNvPr id="13" name="Estrella de 5 puntas 12"/>
            <p:cNvSpPr>
              <a:spLocks noChangeAspect="1"/>
            </p:cNvSpPr>
            <p:nvPr/>
          </p:nvSpPr>
          <p:spPr>
            <a:xfrm>
              <a:off x="8277412" y="2988339"/>
              <a:ext cx="216000" cy="216000"/>
            </a:xfrm>
            <a:prstGeom prst="star5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rgbClr val="FF0000"/>
                </a:solidFill>
              </a:endParaRPr>
            </a:p>
          </p:txBody>
        </p:sp>
        <p:sp>
          <p:nvSpPr>
            <p:cNvPr id="14" name="Estrella de 5 puntas 13"/>
            <p:cNvSpPr>
              <a:spLocks noChangeAspect="1"/>
            </p:cNvSpPr>
            <p:nvPr/>
          </p:nvSpPr>
          <p:spPr>
            <a:xfrm>
              <a:off x="8752512" y="5211408"/>
              <a:ext cx="216000" cy="216000"/>
            </a:xfrm>
            <a:prstGeom prst="star5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rgbClr val="FF0000"/>
                </a:solidFill>
              </a:endParaRPr>
            </a:p>
          </p:txBody>
        </p:sp>
        <p:sp>
          <p:nvSpPr>
            <p:cNvPr id="15" name="Estrella de 5 puntas 14"/>
            <p:cNvSpPr>
              <a:spLocks noChangeAspect="1"/>
            </p:cNvSpPr>
            <p:nvPr/>
          </p:nvSpPr>
          <p:spPr>
            <a:xfrm>
              <a:off x="9378715" y="2988339"/>
              <a:ext cx="216000" cy="216000"/>
            </a:xfrm>
            <a:prstGeom prst="star5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rgbClr val="FF0000"/>
                </a:solidFill>
              </a:endParaRPr>
            </a:p>
          </p:txBody>
        </p:sp>
        <p:sp>
          <p:nvSpPr>
            <p:cNvPr id="16" name="Estrella de 5 puntas 15"/>
            <p:cNvSpPr>
              <a:spLocks noChangeAspect="1"/>
            </p:cNvSpPr>
            <p:nvPr/>
          </p:nvSpPr>
          <p:spPr>
            <a:xfrm>
              <a:off x="9429964" y="3943567"/>
              <a:ext cx="216000" cy="216000"/>
            </a:xfrm>
            <a:prstGeom prst="star5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rgbClr val="FF0000"/>
                </a:solidFill>
              </a:endParaRPr>
            </a:p>
          </p:txBody>
        </p:sp>
      </p:grpSp>
      <p:sp>
        <p:nvSpPr>
          <p:cNvPr id="18" name="CuadroTexto 17"/>
          <p:cNvSpPr txBox="1"/>
          <p:nvPr/>
        </p:nvSpPr>
        <p:spPr>
          <a:xfrm>
            <a:off x="942679" y="2686682"/>
            <a:ext cx="14109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M. GRAZIA PENNINO</a:t>
            </a:r>
            <a:endParaRPr lang="es-ES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3414073" y="2678823"/>
            <a:ext cx="9573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MARÍA SOTO</a:t>
            </a:r>
            <a:endParaRPr lang="es-ES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5678076" y="2689820"/>
            <a:ext cx="9781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LUCÍA RUEDA</a:t>
            </a:r>
            <a:endParaRPr lang="es-ES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7781823" y="2681967"/>
            <a:ext cx="12314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DIANA GONZÁLEZ</a:t>
            </a:r>
            <a:endParaRPr lang="es-ES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9951559" y="2683540"/>
            <a:ext cx="14269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MARGARITA RINCÓN</a:t>
            </a:r>
            <a:endParaRPr lang="es-ES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5569672" y="4513908"/>
            <a:ext cx="11961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PABLO ABAUNZA</a:t>
            </a:r>
            <a:endParaRPr lang="es-ES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329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3780570" y="465552"/>
            <a:ext cx="51571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2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EVOLUCIÓN</a:t>
            </a:r>
            <a:r>
              <a:rPr lang="es-ES" sz="3200" noProof="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 DEL PROYECTO</a:t>
            </a:r>
            <a:endParaRPr kumimoji="0" lang="es-ES" sz="3200" b="0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067" y="1843612"/>
            <a:ext cx="2333810" cy="27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6" name="Grupo 5"/>
          <p:cNvGrpSpPr/>
          <p:nvPr/>
        </p:nvGrpSpPr>
        <p:grpSpPr>
          <a:xfrm>
            <a:off x="480519" y="1595928"/>
            <a:ext cx="4671202" cy="2949835"/>
            <a:chOff x="5360751" y="2633616"/>
            <a:chExt cx="4671202" cy="2949835"/>
          </a:xfrm>
        </p:grpSpPr>
        <p:pic>
          <p:nvPicPr>
            <p:cNvPr id="1026" name="Picture 2" descr="Acerca del IEO - Instituto Español de Oceanografía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0751" y="2847451"/>
              <a:ext cx="4671202" cy="273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uadroTexto 8"/>
            <p:cNvSpPr txBox="1"/>
            <p:nvPr/>
          </p:nvSpPr>
          <p:spPr>
            <a:xfrm>
              <a:off x="6560054" y="3036020"/>
              <a:ext cx="434734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3200" b="1" dirty="0" smtClean="0">
                  <a:solidFill>
                    <a:srgbClr val="FF0000"/>
                  </a:solidFill>
                  <a:latin typeface="Arial Black" panose="020B0A04020102020204" pitchFamily="34" charset="0"/>
                </a:rPr>
                <a:t>?</a:t>
              </a:r>
              <a:endParaRPr lang="es-ES" sz="2400" b="1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3" name="CuadroTexto 12"/>
            <p:cNvSpPr txBox="1"/>
            <p:nvPr/>
          </p:nvSpPr>
          <p:spPr>
            <a:xfrm>
              <a:off x="6455595" y="2633616"/>
              <a:ext cx="434734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3200" b="1" dirty="0" smtClean="0">
                  <a:solidFill>
                    <a:srgbClr val="FF0000"/>
                  </a:solidFill>
                  <a:latin typeface="Arial Black" panose="020B0A04020102020204" pitchFamily="34" charset="0"/>
                </a:rPr>
                <a:t>?</a:t>
              </a:r>
              <a:endParaRPr lang="es-ES" b="1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4" name="CuadroTexto 13"/>
            <p:cNvSpPr txBox="1"/>
            <p:nvPr/>
          </p:nvSpPr>
          <p:spPr>
            <a:xfrm>
              <a:off x="6977861" y="4871667"/>
              <a:ext cx="434734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3200" b="1" dirty="0" smtClean="0">
                  <a:solidFill>
                    <a:srgbClr val="FF0000"/>
                  </a:solidFill>
                  <a:latin typeface="Arial Black" panose="020B0A04020102020204" pitchFamily="34" charset="0"/>
                </a:rPr>
                <a:t>?</a:t>
              </a:r>
              <a:endParaRPr lang="es-ES" sz="2400" b="1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5" name="CuadroTexto 14"/>
            <p:cNvSpPr txBox="1"/>
            <p:nvPr/>
          </p:nvSpPr>
          <p:spPr>
            <a:xfrm>
              <a:off x="7459033" y="4849406"/>
              <a:ext cx="434734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3200" b="1" dirty="0" smtClean="0">
                  <a:solidFill>
                    <a:srgbClr val="FF0000"/>
                  </a:solidFill>
                  <a:latin typeface="Arial Black" panose="020B0A04020102020204" pitchFamily="34" charset="0"/>
                </a:rPr>
                <a:t>?</a:t>
              </a:r>
              <a:endParaRPr lang="es-ES" sz="2400" b="1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6" name="CuadroTexto 15"/>
            <p:cNvSpPr txBox="1"/>
            <p:nvPr/>
          </p:nvSpPr>
          <p:spPr>
            <a:xfrm>
              <a:off x="8495019" y="4498378"/>
              <a:ext cx="434734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3200" b="1" dirty="0" smtClean="0">
                  <a:solidFill>
                    <a:srgbClr val="FF0000"/>
                  </a:solidFill>
                  <a:latin typeface="Arial Black" panose="020B0A04020102020204" pitchFamily="34" charset="0"/>
                </a:rPr>
                <a:t>?</a:t>
              </a:r>
              <a:endParaRPr lang="es-ES" b="1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7" name="CuadroTexto 16"/>
            <p:cNvSpPr txBox="1"/>
            <p:nvPr/>
          </p:nvSpPr>
          <p:spPr>
            <a:xfrm>
              <a:off x="9233046" y="3798020"/>
              <a:ext cx="434734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3200" b="1" dirty="0" smtClean="0">
                  <a:solidFill>
                    <a:srgbClr val="FF0000"/>
                  </a:solidFill>
                  <a:latin typeface="Arial Black" panose="020B0A04020102020204" pitchFamily="34" charset="0"/>
                </a:rPr>
                <a:t>?</a:t>
              </a:r>
              <a:endParaRPr lang="es-ES" b="1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8" name="CuadroTexto 17"/>
            <p:cNvSpPr txBox="1"/>
            <p:nvPr/>
          </p:nvSpPr>
          <p:spPr>
            <a:xfrm>
              <a:off x="7700479" y="2686700"/>
              <a:ext cx="434734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3200" b="1" dirty="0" smtClean="0">
                  <a:solidFill>
                    <a:srgbClr val="FF0000"/>
                  </a:solidFill>
                  <a:latin typeface="Arial Black" panose="020B0A04020102020204" pitchFamily="34" charset="0"/>
                </a:rPr>
                <a:t>?</a:t>
              </a:r>
              <a:endParaRPr lang="es-ES" b="1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5871683" y="4967559"/>
              <a:ext cx="434734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3200" b="1" dirty="0" smtClean="0">
                  <a:solidFill>
                    <a:srgbClr val="FF0000"/>
                  </a:solidFill>
                  <a:latin typeface="Arial Black" panose="020B0A04020102020204" pitchFamily="34" charset="0"/>
                </a:rPr>
                <a:t>?</a:t>
              </a:r>
              <a:endParaRPr lang="es-ES" b="1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7155947" y="2645605"/>
              <a:ext cx="434734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3200" b="1" dirty="0" smtClean="0">
                  <a:solidFill>
                    <a:srgbClr val="FF0000"/>
                  </a:solidFill>
                  <a:latin typeface="Arial Black" panose="020B0A04020102020204" pitchFamily="34" charset="0"/>
                </a:rPr>
                <a:t>?</a:t>
              </a:r>
              <a:endParaRPr lang="es-ES" sz="2400" b="1" dirty="0">
                <a:solidFill>
                  <a:srgbClr val="FF0000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21" name="CuadroTexto 20"/>
          <p:cNvSpPr txBox="1"/>
          <p:nvPr/>
        </p:nvSpPr>
        <p:spPr>
          <a:xfrm>
            <a:off x="2131876" y="2619910"/>
            <a:ext cx="2331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 smtClean="0">
                <a:solidFill>
                  <a:srgbClr val="0070C0"/>
                </a:solidFill>
              </a:rPr>
              <a:t>AREA PESCA IEO</a:t>
            </a:r>
            <a:endParaRPr lang="es-ES" b="1" dirty="0">
              <a:solidFill>
                <a:srgbClr val="0070C0"/>
              </a:solidFill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483766" y="4613101"/>
            <a:ext cx="739683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?</a:t>
            </a:r>
            <a:r>
              <a:rPr lang="es-ES" sz="28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Asesoramiento</a:t>
            </a:r>
          </a:p>
          <a:p>
            <a:r>
              <a:rPr lang="es-ES" sz="28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 Q   </a:t>
            </a:r>
            <a:r>
              <a:rPr lang="es-ES" sz="2800" b="1" dirty="0" smtClean="0">
                <a:solidFill>
                  <a:schemeClr val="bg1"/>
                </a:solidFill>
                <a:latin typeface="Consolas" panose="020B0609020204030204" pitchFamily="49" charset="0"/>
              </a:rPr>
              <a:t>Estadístico-matemático</a:t>
            </a:r>
          </a:p>
          <a:p>
            <a:r>
              <a:rPr lang="es-ES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s-ES" sz="28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U</a:t>
            </a:r>
          </a:p>
          <a:p>
            <a:r>
              <a:rPr lang="es-ES" sz="28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 A   Evaluación stocks (</a:t>
            </a:r>
            <a:r>
              <a:rPr lang="es-ES" sz="2800" b="1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assessment</a:t>
            </a:r>
            <a:r>
              <a:rPr lang="es-ES" sz="28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ES" sz="28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 R      Programación R (in R)</a:t>
            </a:r>
            <a:endParaRPr lang="es-E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Rectángulo 23"/>
          <p:cNvSpPr/>
          <p:nvPr/>
        </p:nvSpPr>
        <p:spPr>
          <a:xfrm>
            <a:off x="1343599" y="5314690"/>
            <a:ext cx="76138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Estadístico-matemático (</a:t>
            </a:r>
            <a:r>
              <a:rPr lang="es-ES" sz="2800" b="1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quantitative</a:t>
            </a:r>
            <a:r>
              <a:rPr lang="es-ES" sz="28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endParaRPr lang="es-ES" dirty="0">
              <a:latin typeface="Consolas" panose="020B0609020204030204" pitchFamily="49" charset="0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1063371" y="1294759"/>
            <a:ext cx="4110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>
                <a:latin typeface="Consolas" panose="020B0609020204030204" pitchFamily="49" charset="0"/>
              </a:rPr>
              <a:t>2018 actividad de investigación</a:t>
            </a:r>
            <a:endParaRPr lang="es-ES" dirty="0">
              <a:latin typeface="Consolas" panose="020B0609020204030204" pitchFamily="49" charset="0"/>
            </a:endParaRPr>
          </a:p>
        </p:txBody>
      </p:sp>
      <p:sp>
        <p:nvSpPr>
          <p:cNvPr id="28" name="CuadroTexto 27"/>
          <p:cNvSpPr txBox="1"/>
          <p:nvPr/>
        </p:nvSpPr>
        <p:spPr>
          <a:xfrm>
            <a:off x="5602832" y="1303323"/>
            <a:ext cx="2090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2019 </a:t>
            </a:r>
            <a:r>
              <a:rPr lang="es-ES" dirty="0" smtClean="0">
                <a:latin typeface="Consolas" panose="020B0609020204030204" pitchFamily="49" charset="0"/>
              </a:rPr>
              <a:t>Proyecto</a:t>
            </a:r>
            <a:r>
              <a:rPr lang="es-ES" dirty="0" smtClean="0"/>
              <a:t> IEO</a:t>
            </a:r>
            <a:endParaRPr lang="es-ES" dirty="0"/>
          </a:p>
        </p:txBody>
      </p:sp>
      <p:sp>
        <p:nvSpPr>
          <p:cNvPr id="29" name="CuadroTexto 28"/>
          <p:cNvSpPr txBox="1"/>
          <p:nvPr/>
        </p:nvSpPr>
        <p:spPr>
          <a:xfrm>
            <a:off x="10770858" y="1553220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>
                <a:latin typeface="Consolas" panose="020B0609020204030204" pitchFamily="49" charset="0"/>
              </a:rPr>
              <a:t>2022 PIE</a:t>
            </a:r>
            <a:endParaRPr lang="es-ES" dirty="0">
              <a:latin typeface="Consolas" panose="020B0609020204030204" pitchFamily="49" charset="0"/>
            </a:endParaRPr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856" y="1477021"/>
            <a:ext cx="876300" cy="876300"/>
          </a:xfrm>
          <a:prstGeom prst="rect">
            <a:avLst/>
          </a:prstGeom>
        </p:spPr>
      </p:pic>
      <p:sp>
        <p:nvSpPr>
          <p:cNvPr id="31" name="CuadroTexto 30"/>
          <p:cNvSpPr txBox="1"/>
          <p:nvPr/>
        </p:nvSpPr>
        <p:spPr>
          <a:xfrm>
            <a:off x="10458456" y="4466160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>
                <a:latin typeface="Consolas" panose="020B0609020204030204" pitchFamily="49" charset="0"/>
              </a:rPr>
              <a:t>2024 PNDB</a:t>
            </a:r>
            <a:endParaRPr lang="es-ES" dirty="0">
              <a:latin typeface="Consolas" panose="020B0609020204030204" pitchFamily="49" charset="0"/>
            </a:endParaRPr>
          </a:p>
        </p:txBody>
      </p:sp>
      <p:pic>
        <p:nvPicPr>
          <p:cNvPr id="30" name="Imagen 2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9137" y="2217290"/>
            <a:ext cx="1109250" cy="1044000"/>
          </a:xfrm>
          <a:prstGeom prst="rect">
            <a:avLst/>
          </a:prstGeom>
        </p:spPr>
      </p:pic>
      <p:sp>
        <p:nvSpPr>
          <p:cNvPr id="34" name="Flecha abajo 33"/>
          <p:cNvSpPr/>
          <p:nvPr/>
        </p:nvSpPr>
        <p:spPr>
          <a:xfrm>
            <a:off x="11255553" y="2456927"/>
            <a:ext cx="143839" cy="172800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Flecha arriba 34"/>
          <p:cNvSpPr/>
          <p:nvPr/>
        </p:nvSpPr>
        <p:spPr>
          <a:xfrm rot="5400000">
            <a:off x="5273216" y="1336195"/>
            <a:ext cx="143838" cy="360000"/>
          </a:xfrm>
          <a:prstGeom prst="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9634" y="4989887"/>
            <a:ext cx="2954806" cy="1332000"/>
          </a:xfrm>
          <a:prstGeom prst="rect">
            <a:avLst/>
          </a:prstGeom>
        </p:spPr>
      </p:pic>
      <p:sp>
        <p:nvSpPr>
          <p:cNvPr id="8" name="Arco 7"/>
          <p:cNvSpPr/>
          <p:nvPr/>
        </p:nvSpPr>
        <p:spPr>
          <a:xfrm>
            <a:off x="7328149" y="1643553"/>
            <a:ext cx="958601" cy="402404"/>
          </a:xfrm>
          <a:prstGeom prst="arc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Arco 31"/>
          <p:cNvSpPr/>
          <p:nvPr/>
        </p:nvSpPr>
        <p:spPr>
          <a:xfrm>
            <a:off x="8814049" y="2196003"/>
            <a:ext cx="958601" cy="402404"/>
          </a:xfrm>
          <a:prstGeom prst="arc">
            <a:avLst/>
          </a:prstGeom>
          <a:ln w="603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Arco 32"/>
          <p:cNvSpPr/>
          <p:nvPr/>
        </p:nvSpPr>
        <p:spPr>
          <a:xfrm rot="7175909">
            <a:off x="10357099" y="1719753"/>
            <a:ext cx="958601" cy="402404"/>
          </a:xfrm>
          <a:prstGeom prst="arc">
            <a:avLst/>
          </a:prstGeom>
          <a:ln w="6032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Picture 2" descr="Sonrisa - Iconos gratis de emoticono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7725" y="4500562"/>
            <a:ext cx="468000" cy="4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133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445832" y="457200"/>
            <a:ext cx="5123518" cy="52322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dirty="0" err="1" smtClean="0">
                <a:solidFill>
                  <a:srgbClr val="0070C0"/>
                </a:solidFill>
                <a:latin typeface="Consolas" panose="020B0609020204030204" pitchFamily="49" charset="0"/>
              </a:rPr>
              <a:t>ToRs</a:t>
            </a:r>
            <a:endParaRPr lang="es-ES" sz="2000" dirty="0" smtClean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 smtClean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u="sng" dirty="0" smtClean="0">
                <a:solidFill>
                  <a:prstClr val="black"/>
                </a:solidFill>
                <a:latin typeface="Consolas" panose="020B0609020204030204" pitchFamily="49" charset="0"/>
              </a:rPr>
              <a:t>Modelización de datos pesqueros R</a:t>
            </a:r>
          </a:p>
          <a:p>
            <a:pPr lvl="0">
              <a:defRPr/>
            </a:pPr>
            <a:r>
              <a:rPr lang="es-ES" dirty="0">
                <a:solidFill>
                  <a:prstClr val="black"/>
                </a:solidFill>
                <a:latin typeface="Consolas" panose="020B0609020204030204" pitchFamily="49" charset="0"/>
              </a:rPr>
              <a:t>Modelos de </a:t>
            </a: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evaluación: DRS, DLS</a:t>
            </a:r>
          </a:p>
          <a:p>
            <a:pPr lvl="0">
              <a:defRPr/>
            </a:pP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Simulación </a:t>
            </a:r>
            <a:r>
              <a:rPr lang="es-ES" dirty="0">
                <a:solidFill>
                  <a:prstClr val="black"/>
                </a:solidFill>
                <a:latin typeface="Consolas" panose="020B0609020204030204" pitchFamily="49" charset="0"/>
              </a:rPr>
              <a:t>de </a:t>
            </a: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incertidumbre en datos</a:t>
            </a:r>
            <a:endParaRPr lang="es-E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lvl="0"/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Evaluación y gestión: MSE</a:t>
            </a:r>
          </a:p>
          <a:p>
            <a:pPr lvl="0"/>
            <a:r>
              <a:rPr lang="es-ES" dirty="0" err="1" smtClean="0">
                <a:solidFill>
                  <a:prstClr val="black"/>
                </a:solidFill>
                <a:latin typeface="Consolas" panose="020B0609020204030204" pitchFamily="49" charset="0"/>
              </a:rPr>
              <a:t>ModelizacióN</a:t>
            </a: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 Bayesiana espacial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Estandarización de </a:t>
            </a:r>
            <a:r>
              <a:rPr lang="es-ES" dirty="0" err="1" smtClean="0">
                <a:solidFill>
                  <a:prstClr val="black"/>
                </a:solidFill>
                <a:latin typeface="Consolas" panose="020B0609020204030204" pitchFamily="49" charset="0"/>
              </a:rPr>
              <a:t>CPUEs</a:t>
            </a:r>
            <a:endParaRPr lang="es-ES" dirty="0" smtClean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VMS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err="1" smtClean="0">
                <a:solidFill>
                  <a:prstClr val="black"/>
                </a:solidFill>
                <a:latin typeface="Consolas" panose="020B0609020204030204" pitchFamily="49" charset="0"/>
              </a:rPr>
              <a:t>Life</a:t>
            </a: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s-ES" dirty="0" err="1" smtClean="0">
                <a:solidFill>
                  <a:prstClr val="black"/>
                </a:solidFill>
                <a:latin typeface="Consolas" panose="020B0609020204030204" pitchFamily="49" charset="0"/>
              </a:rPr>
              <a:t>history</a:t>
            </a: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s-ES" dirty="0" err="1" smtClean="0">
                <a:solidFill>
                  <a:prstClr val="black"/>
                </a:solidFill>
                <a:latin typeface="Consolas" panose="020B0609020204030204" pitchFamily="49" charset="0"/>
              </a:rPr>
              <a:t>traits</a:t>
            </a:r>
            <a:endParaRPr lang="es-ES" dirty="0" smtClean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Dinámica de poblaciones: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     - Puntos de referencia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     - Estimación parámetros biológicos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     - Tallas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     - Crecimiento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     - Selectividad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Buenas prácticas en evaluación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Datos ambientales</a:t>
            </a:r>
          </a:p>
        </p:txBody>
      </p:sp>
      <p:sp>
        <p:nvSpPr>
          <p:cNvPr id="3" name="Rectángulo 2"/>
          <p:cNvSpPr/>
          <p:nvPr/>
        </p:nvSpPr>
        <p:spPr>
          <a:xfrm>
            <a:off x="6257925" y="2955893"/>
            <a:ext cx="5753100" cy="1477328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R </a:t>
            </a:r>
            <a:r>
              <a:rPr lang="es-ES" dirty="0" err="1" smtClean="0">
                <a:solidFill>
                  <a:prstClr val="black"/>
                </a:solidFill>
                <a:latin typeface="Consolas" panose="020B0609020204030204" pitchFamily="49" charset="0"/>
              </a:rPr>
              <a:t>packages</a:t>
            </a:r>
            <a:endParaRPr lang="es-ES" dirty="0" smtClean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lvl="0">
              <a:defRPr/>
            </a:pP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Intercambio y desarrollo de scripts R</a:t>
            </a:r>
          </a:p>
          <a:p>
            <a:pPr lvl="0">
              <a:defRPr/>
            </a:pP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WG: Métodos de evaluación y Datos Espaciales</a:t>
            </a:r>
            <a:endParaRPr lang="es-ES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lvl="0">
              <a:defRPr/>
            </a:pPr>
            <a:r>
              <a:rPr lang="es-ES" dirty="0">
                <a:solidFill>
                  <a:prstClr val="black"/>
                </a:solidFill>
                <a:latin typeface="Consolas" panose="020B0609020204030204" pitchFamily="49" charset="0"/>
              </a:rPr>
              <a:t>Formación y </a:t>
            </a: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talleres PNDB</a:t>
            </a:r>
          </a:p>
          <a:p>
            <a:pPr lvl="0">
              <a:defRPr/>
            </a:pP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Difusión (publicaciones, </a:t>
            </a:r>
            <a:r>
              <a:rPr lang="es-ES" dirty="0" err="1" smtClean="0">
                <a:solidFill>
                  <a:prstClr val="black"/>
                </a:solidFill>
                <a:latin typeface="Consolas" panose="020B0609020204030204" pitchFamily="49" charset="0"/>
              </a:rPr>
              <a:t>github</a:t>
            </a: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, RRSS)</a:t>
            </a:r>
            <a:endParaRPr lang="es-ES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Cerrar corchete 1"/>
          <p:cNvSpPr/>
          <p:nvPr/>
        </p:nvSpPr>
        <p:spPr>
          <a:xfrm>
            <a:off x="5332287" y="1158305"/>
            <a:ext cx="155658" cy="4808095"/>
          </a:xfrm>
          <a:prstGeom prst="rightBracket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errar corchete 5"/>
          <p:cNvSpPr/>
          <p:nvPr/>
        </p:nvSpPr>
        <p:spPr>
          <a:xfrm rot="10800000">
            <a:off x="440072" y="1115499"/>
            <a:ext cx="155658" cy="4808095"/>
          </a:xfrm>
          <a:prstGeom prst="rightBracket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Flecha derecha 6"/>
          <p:cNvSpPr/>
          <p:nvPr/>
        </p:nvSpPr>
        <p:spPr>
          <a:xfrm>
            <a:off x="5681609" y="3562352"/>
            <a:ext cx="493160" cy="23908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/>
          <p:cNvSpPr/>
          <p:nvPr/>
        </p:nvSpPr>
        <p:spPr>
          <a:xfrm>
            <a:off x="7573380" y="2281565"/>
            <a:ext cx="25506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s-ES" sz="28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Herramientas</a:t>
            </a:r>
            <a:endParaRPr lang="es-ES" sz="2000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066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7240533" y="205057"/>
            <a:ext cx="4898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400" dirty="0" smtClean="0">
                <a:solidFill>
                  <a:srgbClr val="0070C0"/>
                </a:solidFill>
                <a:latin typeface="Calibri" panose="020F0502020204030204"/>
              </a:rPr>
              <a:t>QUAR dentro del SISTEMA PESQUERO</a:t>
            </a:r>
            <a:endParaRPr kumimoji="0" lang="es-ES" sz="2400" b="0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</a:endParaRPr>
          </a:p>
        </p:txBody>
      </p:sp>
      <p:grpSp>
        <p:nvGrpSpPr>
          <p:cNvPr id="46" name="Grupo 45"/>
          <p:cNvGrpSpPr/>
          <p:nvPr/>
        </p:nvGrpSpPr>
        <p:grpSpPr>
          <a:xfrm>
            <a:off x="513705" y="492571"/>
            <a:ext cx="9073008" cy="6120680"/>
            <a:chOff x="0" y="260648"/>
            <a:chExt cx="9073008" cy="6120680"/>
          </a:xfrm>
        </p:grpSpPr>
        <p:grpSp>
          <p:nvGrpSpPr>
            <p:cNvPr id="3" name="23 Grupo"/>
            <p:cNvGrpSpPr>
              <a:grpSpLocks noChangeAspect="1"/>
            </p:cNvGrpSpPr>
            <p:nvPr/>
          </p:nvGrpSpPr>
          <p:grpSpPr>
            <a:xfrm>
              <a:off x="0" y="260648"/>
              <a:ext cx="9073008" cy="6120680"/>
              <a:chOff x="35496" y="260648"/>
              <a:chExt cx="9073008" cy="6120680"/>
            </a:xfrm>
          </p:grpSpPr>
          <p:sp>
            <p:nvSpPr>
              <p:cNvPr id="4" name="9 Elipse"/>
              <p:cNvSpPr/>
              <p:nvPr/>
            </p:nvSpPr>
            <p:spPr>
              <a:xfrm>
                <a:off x="35496" y="260648"/>
                <a:ext cx="9073008" cy="6120680"/>
              </a:xfrm>
              <a:prstGeom prst="ellipse">
                <a:avLst/>
              </a:prstGeom>
              <a:gradFill>
                <a:gsLst>
                  <a:gs pos="0">
                    <a:schemeClr val="bg2">
                      <a:lumMod val="7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6" name="3 Elipse"/>
              <p:cNvSpPr/>
              <p:nvPr/>
            </p:nvSpPr>
            <p:spPr>
              <a:xfrm>
                <a:off x="1403648" y="980728"/>
                <a:ext cx="6336704" cy="388843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7" name="5 CuadroTexto"/>
              <p:cNvSpPr txBox="1"/>
              <p:nvPr/>
            </p:nvSpPr>
            <p:spPr>
              <a:xfrm>
                <a:off x="3594710" y="332656"/>
                <a:ext cx="194421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2000" b="1" dirty="0" smtClean="0">
                    <a:solidFill>
                      <a:srgbClr val="002060"/>
                    </a:solidFill>
                  </a:rPr>
                  <a:t>SISTEMA PESQUERO</a:t>
                </a:r>
                <a:endParaRPr lang="es-ES" sz="2000" b="1" dirty="0">
                  <a:solidFill>
                    <a:srgbClr val="002060"/>
                  </a:solidFill>
                </a:endParaRPr>
              </a:p>
            </p:txBody>
          </p:sp>
          <p:grpSp>
            <p:nvGrpSpPr>
              <p:cNvPr id="8" name="22 Grupo"/>
              <p:cNvGrpSpPr/>
              <p:nvPr/>
            </p:nvGrpSpPr>
            <p:grpSpPr>
              <a:xfrm>
                <a:off x="1907704" y="1268760"/>
                <a:ext cx="6120680" cy="3351903"/>
                <a:chOff x="1907704" y="1268760"/>
                <a:chExt cx="6120680" cy="3351903"/>
              </a:xfrm>
            </p:grpSpPr>
            <p:sp>
              <p:nvSpPr>
                <p:cNvPr id="12" name="4 CuadroTexto"/>
                <p:cNvSpPr txBox="1"/>
                <p:nvPr/>
              </p:nvSpPr>
              <p:spPr>
                <a:xfrm>
                  <a:off x="4067944" y="1268760"/>
                  <a:ext cx="19442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b="1" dirty="0" smtClean="0">
                      <a:solidFill>
                        <a:srgbClr val="CC0000"/>
                      </a:solidFill>
                    </a:rPr>
                    <a:t>PESQUERÍAS</a:t>
                  </a:r>
                  <a:endParaRPr lang="es-ES" b="1" dirty="0">
                    <a:solidFill>
                      <a:srgbClr val="CC0000"/>
                    </a:solidFill>
                  </a:endParaRPr>
                </a:p>
              </p:txBody>
            </p:sp>
            <p:sp>
              <p:nvSpPr>
                <p:cNvPr id="13" name="6 CuadroTexto"/>
                <p:cNvSpPr txBox="1"/>
                <p:nvPr/>
              </p:nvSpPr>
              <p:spPr>
                <a:xfrm>
                  <a:off x="6084168" y="2792094"/>
                  <a:ext cx="19442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b="1" dirty="0" smtClean="0">
                      <a:solidFill>
                        <a:srgbClr val="C00000"/>
                      </a:solidFill>
                    </a:rPr>
                    <a:t>DATOS</a:t>
                  </a:r>
                  <a:endParaRPr lang="es-ES" b="1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4" name="7 CuadroTexto"/>
                <p:cNvSpPr txBox="1"/>
                <p:nvPr/>
              </p:nvSpPr>
              <p:spPr>
                <a:xfrm>
                  <a:off x="3543250" y="3974332"/>
                  <a:ext cx="194421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b="1" dirty="0" smtClean="0">
                      <a:solidFill>
                        <a:srgbClr val="C00000"/>
                      </a:solidFill>
                    </a:rPr>
                    <a:t>EVALUACIÓN &amp; ASESORAMIENTO</a:t>
                  </a:r>
                  <a:endParaRPr lang="es-ES" b="1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5" name="8 CuadroTexto"/>
                <p:cNvSpPr txBox="1"/>
                <p:nvPr/>
              </p:nvSpPr>
              <p:spPr>
                <a:xfrm>
                  <a:off x="1907704" y="2575358"/>
                  <a:ext cx="19442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b="1" dirty="0" smtClean="0">
                      <a:solidFill>
                        <a:srgbClr val="C00000"/>
                      </a:solidFill>
                    </a:rPr>
                    <a:t>CUMPLIMIENTO</a:t>
                  </a:r>
                  <a:endParaRPr lang="es-ES" b="1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6" name="14 Flecha a la derecha con muesca"/>
                <p:cNvSpPr/>
                <p:nvPr/>
              </p:nvSpPr>
              <p:spPr>
                <a:xfrm rot="2458197">
                  <a:off x="5251963" y="1842000"/>
                  <a:ext cx="1224136" cy="360040"/>
                </a:xfrm>
                <a:prstGeom prst="notchedRightArrow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7" name="15 Flecha a la derecha con muesca"/>
                <p:cNvSpPr/>
                <p:nvPr/>
              </p:nvSpPr>
              <p:spPr>
                <a:xfrm rot="8799485">
                  <a:off x="5293877" y="3519760"/>
                  <a:ext cx="1224136" cy="360040"/>
                </a:xfrm>
                <a:prstGeom prst="notchedRightArrow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8" name="18 Flecha a la derecha con muesca"/>
                <p:cNvSpPr/>
                <p:nvPr/>
              </p:nvSpPr>
              <p:spPr>
                <a:xfrm rot="13289398">
                  <a:off x="2302514" y="3357269"/>
                  <a:ext cx="1224136" cy="360040"/>
                </a:xfrm>
                <a:prstGeom prst="notchedRightArrow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9" name="19 Flecha a la derecha con muesca"/>
                <p:cNvSpPr/>
                <p:nvPr/>
              </p:nvSpPr>
              <p:spPr>
                <a:xfrm rot="19607486">
                  <a:off x="2698426" y="1863576"/>
                  <a:ext cx="1224136" cy="360040"/>
                </a:xfrm>
                <a:prstGeom prst="notchedRightArrow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9" name="20 CuadroTexto"/>
              <p:cNvSpPr txBox="1"/>
              <p:nvPr/>
            </p:nvSpPr>
            <p:spPr>
              <a:xfrm rot="16200000">
                <a:off x="4355064" y="4587112"/>
                <a:ext cx="461665" cy="1712328"/>
              </a:xfrm>
              <a:prstGeom prst="rect">
                <a:avLst/>
              </a:prstGeom>
              <a:noFill/>
            </p:spPr>
            <p:txBody>
              <a:bodyPr vert="vert" wrap="none" rtlCol="0">
                <a:spAutoFit/>
              </a:bodyPr>
              <a:lstStyle/>
              <a:p>
                <a:r>
                  <a:rPr lang="es-ES" b="1" dirty="0">
                    <a:solidFill>
                      <a:srgbClr val="00B050"/>
                    </a:solidFill>
                  </a:rPr>
                  <a:t>INCERTIDUMBRE</a:t>
                </a:r>
              </a:p>
            </p:txBody>
          </p:sp>
        </p:grpSp>
        <p:sp>
          <p:nvSpPr>
            <p:cNvPr id="2" name="CuadroTexto 1"/>
            <p:cNvSpPr txBox="1"/>
            <p:nvPr/>
          </p:nvSpPr>
          <p:spPr>
            <a:xfrm>
              <a:off x="7109719" y="4246004"/>
              <a:ext cx="1174296" cy="584775"/>
            </a:xfrm>
            <a:prstGeom prst="rect">
              <a:avLst/>
            </a:prstGeom>
            <a:noFill/>
            <a:ln w="53975">
              <a:solidFill>
                <a:schemeClr val="accent3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ES" sz="3200" dirty="0" smtClean="0"/>
                <a:t>QUAR</a:t>
              </a:r>
              <a:endParaRPr lang="es-ES" sz="3200" dirty="0"/>
            </a:p>
          </p:txBody>
        </p:sp>
        <p:sp>
          <p:nvSpPr>
            <p:cNvPr id="22" name="Elipse 21"/>
            <p:cNvSpPr/>
            <p:nvPr/>
          </p:nvSpPr>
          <p:spPr>
            <a:xfrm rot="20286942">
              <a:off x="3376552" y="2967728"/>
              <a:ext cx="3845905" cy="1558624"/>
            </a:xfrm>
            <a:prstGeom prst="ellipse">
              <a:avLst/>
            </a:prstGeom>
            <a:noFill/>
            <a:ln w="412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3" name="Elipse 22"/>
            <p:cNvSpPr/>
            <p:nvPr/>
          </p:nvSpPr>
          <p:spPr>
            <a:xfrm>
              <a:off x="3481227" y="5154334"/>
              <a:ext cx="2169559" cy="587203"/>
            </a:xfrm>
            <a:prstGeom prst="ellipse">
              <a:avLst/>
            </a:prstGeom>
            <a:noFill/>
            <a:ln w="412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25" name="Conector recto de flecha 24"/>
            <p:cNvCxnSpPr/>
            <p:nvPr/>
          </p:nvCxnSpPr>
          <p:spPr>
            <a:xfrm flipH="1">
              <a:off x="5650786" y="4620663"/>
              <a:ext cx="1335641" cy="670528"/>
            </a:xfrm>
            <a:prstGeom prst="straightConnector1">
              <a:avLst/>
            </a:prstGeom>
            <a:ln w="444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de flecha 25"/>
            <p:cNvCxnSpPr/>
            <p:nvPr/>
          </p:nvCxnSpPr>
          <p:spPr>
            <a:xfrm flipH="1" flipV="1">
              <a:off x="6408712" y="4186584"/>
              <a:ext cx="577715" cy="274472"/>
            </a:xfrm>
            <a:prstGeom prst="straightConnector1">
              <a:avLst/>
            </a:prstGeom>
            <a:ln w="4445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CuadroTexto 23"/>
          <p:cNvSpPr txBox="1"/>
          <p:nvPr/>
        </p:nvSpPr>
        <p:spPr>
          <a:xfrm>
            <a:off x="9491505" y="4479500"/>
            <a:ext cx="2495811" cy="584775"/>
          </a:xfrm>
          <a:prstGeom prst="rect">
            <a:avLst/>
          </a:prstGeom>
          <a:noFill/>
          <a:ln w="53975">
            <a:solidFill>
              <a:schemeClr val="accent3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s-ES" sz="3200" dirty="0" smtClean="0"/>
              <a:t>STOCKS PNDB</a:t>
            </a:r>
            <a:endParaRPr lang="es-ES" sz="3200" dirty="0"/>
          </a:p>
        </p:txBody>
      </p:sp>
      <p:sp>
        <p:nvSpPr>
          <p:cNvPr id="10" name="Flecha izquierda y derecha 9"/>
          <p:cNvSpPr/>
          <p:nvPr/>
        </p:nvSpPr>
        <p:spPr>
          <a:xfrm>
            <a:off x="8936610" y="4685123"/>
            <a:ext cx="443060" cy="167464"/>
          </a:xfrm>
          <a:prstGeom prst="left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5687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548632" y="295275"/>
            <a:ext cx="5791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400" noProof="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INTERACCIÓN</a:t>
            </a:r>
            <a:r>
              <a:rPr kumimoji="0" lang="es-E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</a:rPr>
              <a:t> QUAR - PROYECTOS PNDB</a:t>
            </a:r>
          </a:p>
        </p:txBody>
      </p:sp>
      <p:grpSp>
        <p:nvGrpSpPr>
          <p:cNvPr id="17" name="Grupo 16"/>
          <p:cNvGrpSpPr/>
          <p:nvPr/>
        </p:nvGrpSpPr>
        <p:grpSpPr>
          <a:xfrm>
            <a:off x="7095584" y="2679668"/>
            <a:ext cx="4135157" cy="2062103"/>
            <a:chOff x="7162259" y="2422493"/>
            <a:chExt cx="4135157" cy="2062103"/>
          </a:xfrm>
        </p:grpSpPr>
        <p:sp>
          <p:nvSpPr>
            <p:cNvPr id="18" name="Rectángulo 17"/>
            <p:cNvSpPr>
              <a:spLocks noChangeAspect="1"/>
            </p:cNvSpPr>
            <p:nvPr/>
          </p:nvSpPr>
          <p:spPr>
            <a:xfrm>
              <a:off x="7162259" y="2422493"/>
              <a:ext cx="4135157" cy="2062103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s-ES" dirty="0" smtClean="0">
                  <a:solidFill>
                    <a:srgbClr val="0070C0"/>
                  </a:solidFill>
                  <a:latin typeface="Consolas" panose="020B0609020204030204" pitchFamily="49" charset="0"/>
                </a:rPr>
                <a:t>QUAR PROYECTO</a:t>
              </a:r>
              <a:r>
                <a:rPr lang="es-ES" sz="2000" dirty="0" smtClean="0">
                  <a:solidFill>
                    <a:srgbClr val="0070C0"/>
                  </a:solidFill>
                  <a:latin typeface="Consolas" panose="020B0609020204030204" pitchFamily="49" charset="0"/>
                </a:rPr>
                <a:t> </a:t>
              </a:r>
              <a:r>
                <a:rPr lang="es-ES" dirty="0" smtClean="0">
                  <a:solidFill>
                    <a:srgbClr val="0070C0"/>
                  </a:solidFill>
                  <a:latin typeface="Consolas" panose="020B0609020204030204" pitchFamily="49" charset="0"/>
                </a:rPr>
                <a:t>PNDB TRANSVERSAL </a:t>
              </a:r>
            </a:p>
            <a:p>
              <a:pPr lvl="0" algn="ctr">
                <a:defRPr/>
              </a:pPr>
              <a:r>
                <a:rPr lang="es-ES" dirty="0" smtClean="0">
                  <a:solidFill>
                    <a:srgbClr val="0070C0"/>
                  </a:solidFill>
                  <a:latin typeface="Consolas" panose="020B0609020204030204" pitchFamily="49" charset="0"/>
                </a:rPr>
                <a:t>ÁREA DE PESCA IEO</a:t>
              </a:r>
            </a:p>
            <a:p>
              <a:pPr lvl="0" algn="ctr">
                <a:defRPr/>
              </a:pPr>
              <a:endParaRPr lang="es-ES" dirty="0">
                <a:solidFill>
                  <a:srgbClr val="0070C0"/>
                </a:solidFill>
                <a:latin typeface="Consolas" panose="020B0609020204030204" pitchFamily="49" charset="0"/>
              </a:endParaRPr>
            </a:p>
            <a:p>
              <a:pPr lvl="0" algn="ctr">
                <a:defRPr/>
              </a:pPr>
              <a:endParaRPr lang="es-ES" dirty="0" smtClean="0">
                <a:solidFill>
                  <a:srgbClr val="0070C0"/>
                </a:solidFill>
                <a:latin typeface="Consolas" panose="020B0609020204030204" pitchFamily="49" charset="0"/>
              </a:endParaRPr>
            </a:p>
            <a:p>
              <a:pPr lvl="0" algn="ctr">
                <a:defRPr/>
              </a:pPr>
              <a:endParaRPr lang="es-ES" dirty="0">
                <a:solidFill>
                  <a:srgbClr val="0070C0"/>
                </a:solidFill>
                <a:latin typeface="Consolas" panose="020B0609020204030204" pitchFamily="49" charset="0"/>
              </a:endParaRPr>
            </a:p>
            <a:p>
              <a:pPr lvl="0" algn="ctr">
                <a:defRPr/>
              </a:pPr>
              <a:endParaRPr lang="es-ES" dirty="0">
                <a:solidFill>
                  <a:srgbClr val="0070C0"/>
                </a:solidFill>
                <a:latin typeface="Consolas" panose="020B0609020204030204" pitchFamily="49" charset="0"/>
              </a:endParaRPr>
            </a:p>
            <a:p>
              <a:pPr lvl="0" algn="ctr">
                <a:defRPr/>
              </a:pPr>
              <a:endParaRPr lang="es-ES" dirty="0">
                <a:solidFill>
                  <a:srgbClr val="0070C0"/>
                </a:solidFill>
                <a:latin typeface="Consolas" panose="020B0609020204030204" pitchFamily="49" charset="0"/>
              </a:endParaRPr>
            </a:p>
          </p:txBody>
        </p:sp>
        <p:grpSp>
          <p:nvGrpSpPr>
            <p:cNvPr id="4" name="Grupo 3"/>
            <p:cNvGrpSpPr>
              <a:grpSpLocks noChangeAspect="1"/>
            </p:cNvGrpSpPr>
            <p:nvPr/>
          </p:nvGrpSpPr>
          <p:grpSpPr>
            <a:xfrm>
              <a:off x="7171805" y="3140739"/>
              <a:ext cx="2274145" cy="1332000"/>
              <a:chOff x="7086809" y="2988339"/>
              <a:chExt cx="4671202" cy="2736000"/>
            </a:xfrm>
          </p:grpSpPr>
          <p:pic>
            <p:nvPicPr>
              <p:cNvPr id="5" name="Picture 2" descr="Acerca del IEO - Instituto Español de Oceanografía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86809" y="2988339"/>
                <a:ext cx="4671202" cy="2736000"/>
              </a:xfrm>
              <a:prstGeom prst="rect">
                <a:avLst/>
              </a:prstGeom>
              <a:noFill/>
              <a:ln w="15875">
                <a:solidFill>
                  <a:srgbClr val="FF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Estrella de 5 puntas 5"/>
              <p:cNvSpPr>
                <a:spLocks noChangeAspect="1"/>
              </p:cNvSpPr>
              <p:nvPr/>
            </p:nvSpPr>
            <p:spPr>
              <a:xfrm>
                <a:off x="9267290" y="5167903"/>
                <a:ext cx="216000" cy="216000"/>
              </a:xfrm>
              <a:prstGeom prst="star5">
                <a:avLst/>
              </a:prstGeom>
              <a:solidFill>
                <a:srgbClr val="FF0000"/>
              </a:solidFill>
              <a:ln w="158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srgbClr val="FF0000"/>
                  </a:solidFill>
                </a:endParaRPr>
              </a:p>
            </p:txBody>
          </p:sp>
          <p:sp>
            <p:nvSpPr>
              <p:cNvPr id="7" name="Estrella de 5 puntas 6"/>
              <p:cNvSpPr>
                <a:spLocks noChangeAspect="1"/>
              </p:cNvSpPr>
              <p:nvPr/>
            </p:nvSpPr>
            <p:spPr>
              <a:xfrm>
                <a:off x="8277412" y="2988339"/>
                <a:ext cx="216000" cy="216000"/>
              </a:xfrm>
              <a:prstGeom prst="star5">
                <a:avLst/>
              </a:prstGeom>
              <a:solidFill>
                <a:srgbClr val="FF0000"/>
              </a:solidFill>
              <a:ln w="158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srgbClr val="FF0000"/>
                  </a:solidFill>
                </a:endParaRPr>
              </a:p>
            </p:txBody>
          </p:sp>
          <p:sp>
            <p:nvSpPr>
              <p:cNvPr id="8" name="Estrella de 5 puntas 7"/>
              <p:cNvSpPr>
                <a:spLocks noChangeAspect="1"/>
              </p:cNvSpPr>
              <p:nvPr/>
            </p:nvSpPr>
            <p:spPr>
              <a:xfrm>
                <a:off x="8752512" y="5211408"/>
                <a:ext cx="216000" cy="216000"/>
              </a:xfrm>
              <a:prstGeom prst="star5">
                <a:avLst/>
              </a:prstGeom>
              <a:solidFill>
                <a:srgbClr val="FF0000"/>
              </a:solidFill>
              <a:ln w="158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srgbClr val="FF0000"/>
                  </a:solidFill>
                </a:endParaRPr>
              </a:p>
            </p:txBody>
          </p:sp>
          <p:sp>
            <p:nvSpPr>
              <p:cNvPr id="9" name="Estrella de 5 puntas 8"/>
              <p:cNvSpPr>
                <a:spLocks noChangeAspect="1"/>
              </p:cNvSpPr>
              <p:nvPr/>
            </p:nvSpPr>
            <p:spPr>
              <a:xfrm>
                <a:off x="9378715" y="2988339"/>
                <a:ext cx="216000" cy="216000"/>
              </a:xfrm>
              <a:prstGeom prst="star5">
                <a:avLst/>
              </a:prstGeom>
              <a:solidFill>
                <a:srgbClr val="FF0000"/>
              </a:solidFill>
              <a:ln w="158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srgbClr val="FF0000"/>
                  </a:solidFill>
                </a:endParaRPr>
              </a:p>
            </p:txBody>
          </p:sp>
          <p:sp>
            <p:nvSpPr>
              <p:cNvPr id="10" name="Estrella de 5 puntas 9"/>
              <p:cNvSpPr>
                <a:spLocks noChangeAspect="1"/>
              </p:cNvSpPr>
              <p:nvPr/>
            </p:nvSpPr>
            <p:spPr>
              <a:xfrm>
                <a:off x="9429964" y="3943567"/>
                <a:ext cx="216000" cy="216000"/>
              </a:xfrm>
              <a:prstGeom prst="star5">
                <a:avLst/>
              </a:prstGeom>
              <a:solidFill>
                <a:srgbClr val="FF0000"/>
              </a:solidFill>
              <a:ln w="158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srgbClr val="FF0000"/>
                  </a:solidFill>
                </a:endParaRPr>
              </a:p>
            </p:txBody>
          </p:sp>
        </p:grpSp>
      </p:grpSp>
      <p:sp>
        <p:nvSpPr>
          <p:cNvPr id="12" name="Rectángulo 11"/>
          <p:cNvSpPr/>
          <p:nvPr/>
        </p:nvSpPr>
        <p:spPr>
          <a:xfrm>
            <a:off x="6810375" y="812768"/>
            <a:ext cx="4829175" cy="1415772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s-ES" dirty="0" smtClean="0">
                <a:solidFill>
                  <a:srgbClr val="0070C0"/>
                </a:solidFill>
                <a:latin typeface="Consolas" panose="020B0609020204030204" pitchFamily="49" charset="0"/>
              </a:rPr>
              <a:t>PROYECTOS</a:t>
            </a:r>
            <a:r>
              <a:rPr lang="es-ES" sz="20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s-ES" dirty="0" smtClean="0">
                <a:solidFill>
                  <a:srgbClr val="0070C0"/>
                </a:solidFill>
                <a:latin typeface="Consolas" panose="020B0609020204030204" pitchFamily="49" charset="0"/>
              </a:rPr>
              <a:t>PNDB </a:t>
            </a:r>
            <a:r>
              <a:rPr lang="es-ES" sz="1600" dirty="0" smtClean="0">
                <a:solidFill>
                  <a:prstClr val="black"/>
                </a:solidFill>
                <a:latin typeface="Consolas" panose="020B0609020204030204" pitchFamily="49" charset="0"/>
              </a:rPr>
              <a:t>EVAPESLE4, BIOPESLE4, EVALICES, ARPA5, GPM_17_19, EPAFRIK-BADE3</a:t>
            </a:r>
          </a:p>
          <a:p>
            <a:pPr>
              <a:defRPr/>
            </a:pPr>
            <a:r>
              <a:rPr lang="es-ES" dirty="0" smtClean="0">
                <a:solidFill>
                  <a:srgbClr val="0070C0"/>
                </a:solidFill>
                <a:latin typeface="Consolas" panose="020B0609020204030204" pitchFamily="49" charset="0"/>
              </a:rPr>
              <a:t>REUNIONES PNDB</a:t>
            </a: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 E</a:t>
            </a:r>
            <a:r>
              <a:rPr lang="es-ES" sz="1600" dirty="0" smtClean="0">
                <a:solidFill>
                  <a:prstClr val="black"/>
                </a:solidFill>
                <a:latin typeface="Consolas" panose="020B0609020204030204" pitchFamily="49" charset="0"/>
              </a:rPr>
              <a:t>valuación de especies, Comités científicos, Grupos de métodos, otros WG relacionados con evaluación</a:t>
            </a:r>
            <a:endParaRPr lang="es-ES" dirty="0" smtClean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209549" y="2927318"/>
            <a:ext cx="5751022" cy="267765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s-ES" dirty="0" smtClean="0">
                <a:solidFill>
                  <a:srgbClr val="0070C0"/>
                </a:solidFill>
                <a:latin typeface="Consolas" panose="020B0609020204030204" pitchFamily="49" charset="0"/>
              </a:rPr>
              <a:t>R </a:t>
            </a:r>
            <a:r>
              <a:rPr lang="es-ES" dirty="0" err="1" smtClean="0">
                <a:solidFill>
                  <a:srgbClr val="0070C0"/>
                </a:solidFill>
                <a:latin typeface="Consolas" panose="020B0609020204030204" pitchFamily="49" charset="0"/>
              </a:rPr>
              <a:t>packages</a:t>
            </a:r>
            <a:endParaRPr lang="es-ES" dirty="0" smtClean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lvl="0" algn="just">
              <a:defRPr/>
            </a:pPr>
            <a:r>
              <a:rPr lang="es-ES" sz="16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Evaluación stocks y pesca</a:t>
            </a: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 err="1" smtClean="0">
                <a:solidFill>
                  <a:prstClr val="black"/>
                </a:solidFill>
                <a:latin typeface="Consolas" panose="020B0609020204030204" pitchFamily="49" charset="0"/>
              </a:rPr>
              <a:t>FLBeia</a:t>
            </a:r>
            <a:r>
              <a:rPr lang="es-ES" sz="1600" dirty="0" smtClean="0">
                <a:solidFill>
                  <a:prstClr val="black"/>
                </a:solidFill>
                <a:latin typeface="Consolas" panose="020B0609020204030204" pitchFamily="49" charset="0"/>
              </a:rPr>
              <a:t>, FLR, </a:t>
            </a:r>
            <a:r>
              <a:rPr lang="es-ES" sz="1600" dirty="0" err="1" smtClean="0">
                <a:solidFill>
                  <a:prstClr val="black"/>
                </a:solidFill>
                <a:latin typeface="Consolas" panose="020B0609020204030204" pitchFamily="49" charset="0"/>
              </a:rPr>
              <a:t>SPiCT</a:t>
            </a:r>
            <a:r>
              <a:rPr lang="es-ES" sz="1600" dirty="0" smtClean="0">
                <a:solidFill>
                  <a:prstClr val="black"/>
                </a:solidFill>
                <a:latin typeface="Consolas" panose="020B0609020204030204" pitchFamily="49" charset="0"/>
              </a:rPr>
              <a:t>, JABBA,</a:t>
            </a:r>
            <a:r>
              <a:rPr lang="es-ES" sz="1600" dirty="0">
                <a:latin typeface="Consolas" panose="020B0609020204030204" pitchFamily="49" charset="0"/>
              </a:rPr>
              <a:t> </a:t>
            </a:r>
            <a:r>
              <a:rPr lang="es-ES" sz="1600" dirty="0" smtClean="0">
                <a:latin typeface="Consolas" panose="020B0609020204030204" pitchFamily="49" charset="0"/>
              </a:rPr>
              <a:t>LBI</a:t>
            </a:r>
            <a:r>
              <a:rPr lang="es-ES" sz="1600" dirty="0">
                <a:latin typeface="Consolas" panose="020B0609020204030204" pitchFamily="49" charset="0"/>
              </a:rPr>
              <a:t>,</a:t>
            </a:r>
            <a:r>
              <a:rPr lang="es-ES" sz="1600" dirty="0" smtClean="0">
                <a:latin typeface="Consolas" panose="020B0609020204030204" pitchFamily="49" charset="0"/>
              </a:rPr>
              <a:t> LBSPR, </a:t>
            </a:r>
            <a:r>
              <a:rPr lang="es-ES" sz="1600" dirty="0" err="1">
                <a:latin typeface="Consolas" panose="020B0609020204030204" pitchFamily="49" charset="0"/>
              </a:rPr>
              <a:t>BycatchEstimator</a:t>
            </a:r>
            <a:r>
              <a:rPr lang="es-ES" sz="1600" dirty="0">
                <a:latin typeface="Consolas" panose="020B0609020204030204" pitchFamily="49" charset="0"/>
              </a:rPr>
              <a:t>, </a:t>
            </a:r>
            <a:r>
              <a:rPr lang="es-ES" sz="1600" dirty="0" err="1">
                <a:latin typeface="Consolas" panose="020B0609020204030204" pitchFamily="49" charset="0"/>
              </a:rPr>
              <a:t>sizeMat</a:t>
            </a:r>
            <a:r>
              <a:rPr lang="es-ES" sz="1600" dirty="0">
                <a:latin typeface="Consolas" panose="020B0609020204030204" pitchFamily="49" charset="0"/>
              </a:rPr>
              <a:t>, </a:t>
            </a:r>
            <a:r>
              <a:rPr lang="es-ES" sz="1600" dirty="0" err="1">
                <a:latin typeface="Consolas" panose="020B0609020204030204" pitchFamily="49" charset="0"/>
              </a:rPr>
              <a:t>openMSE</a:t>
            </a:r>
            <a:r>
              <a:rPr lang="es-ES" sz="1600" dirty="0">
                <a:latin typeface="Consolas" panose="020B0609020204030204" pitchFamily="49" charset="0"/>
              </a:rPr>
              <a:t>, </a:t>
            </a:r>
            <a:r>
              <a:rPr lang="es-ES" sz="1600" dirty="0" err="1">
                <a:latin typeface="Consolas" panose="020B0609020204030204" pitchFamily="49" charset="0"/>
              </a:rPr>
              <a:t>nswo-mse</a:t>
            </a:r>
            <a:r>
              <a:rPr lang="es-ES" sz="1600" dirty="0">
                <a:latin typeface="Consolas" panose="020B0609020204030204" pitchFamily="49" charset="0"/>
              </a:rPr>
              <a:t>, </a:t>
            </a:r>
            <a:r>
              <a:rPr lang="es-ES" sz="1600" dirty="0" err="1" smtClean="0">
                <a:latin typeface="Consolas" panose="020B0609020204030204" pitchFamily="49" charset="0"/>
              </a:rPr>
              <a:t>abft-mse</a:t>
            </a:r>
            <a:r>
              <a:rPr lang="es-ES" sz="1600" dirty="0" smtClean="0">
                <a:latin typeface="Consolas" panose="020B0609020204030204" pitchFamily="49" charset="0"/>
              </a:rPr>
              <a:t>, a4a, </a:t>
            </a:r>
            <a:r>
              <a:rPr lang="es-ES" sz="1600" dirty="0">
                <a:latin typeface="Consolas" panose="020B0609020204030204" pitchFamily="49" charset="0"/>
              </a:rPr>
              <a:t>gadget3, gadget2, </a:t>
            </a:r>
            <a:r>
              <a:rPr lang="es-ES" sz="1600" dirty="0" smtClean="0">
                <a:latin typeface="Consolas" panose="020B0609020204030204" pitchFamily="49" charset="0"/>
              </a:rPr>
              <a:t>r4ss, </a:t>
            </a:r>
            <a:r>
              <a:rPr lang="es-ES" sz="1600" dirty="0" err="1" smtClean="0">
                <a:latin typeface="Consolas" panose="020B0609020204030204" pitchFamily="49" charset="0"/>
              </a:rPr>
              <a:t>VMStools</a:t>
            </a:r>
            <a:r>
              <a:rPr lang="es-ES" sz="1600" dirty="0">
                <a:latin typeface="Consolas" panose="020B0609020204030204" pitchFamily="49" charset="0"/>
              </a:rPr>
              <a:t>, </a:t>
            </a:r>
            <a:r>
              <a:rPr lang="es-ES" sz="1600" dirty="0" err="1" smtClean="0">
                <a:latin typeface="Consolas" panose="020B0609020204030204" pitchFamily="49" charset="0"/>
              </a:rPr>
              <a:t>FishTrop</a:t>
            </a:r>
            <a:r>
              <a:rPr lang="es-ES" sz="1600" dirty="0">
                <a:latin typeface="Consolas" panose="020B0609020204030204" pitchFamily="49" charset="0"/>
              </a:rPr>
              <a:t>, </a:t>
            </a:r>
            <a:r>
              <a:rPr lang="es-ES" sz="1600" dirty="0" err="1" smtClean="0">
                <a:latin typeface="Consolas" panose="020B0609020204030204" pitchFamily="49" charset="0"/>
              </a:rPr>
              <a:t>FLCore</a:t>
            </a:r>
            <a:r>
              <a:rPr lang="es-ES" sz="1600" dirty="0">
                <a:latin typeface="Consolas" panose="020B0609020204030204" pitchFamily="49" charset="0"/>
              </a:rPr>
              <a:t>, </a:t>
            </a:r>
            <a:r>
              <a:rPr lang="es-ES" sz="1600" dirty="0" smtClean="0">
                <a:latin typeface="Consolas" panose="020B0609020204030204" pitchFamily="49" charset="0"/>
              </a:rPr>
              <a:t>FLBRP, etc.</a:t>
            </a:r>
          </a:p>
          <a:p>
            <a:pPr lvl="0" algn="just">
              <a:defRPr/>
            </a:pPr>
            <a:r>
              <a:rPr lang="es-ES" sz="16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Estadísticos</a:t>
            </a:r>
            <a:r>
              <a:rPr lang="es-ES" dirty="0" smtClean="0"/>
              <a:t> </a:t>
            </a:r>
            <a:r>
              <a:rPr lang="es-ES" sz="1600" dirty="0" err="1">
                <a:latin typeface="Consolas" panose="020B0609020204030204" pitchFamily="49" charset="0"/>
              </a:rPr>
              <a:t>glmmTMB</a:t>
            </a:r>
            <a:r>
              <a:rPr lang="es-ES" sz="1600" dirty="0">
                <a:latin typeface="Consolas" panose="020B0609020204030204" pitchFamily="49" charset="0"/>
              </a:rPr>
              <a:t>, </a:t>
            </a:r>
            <a:r>
              <a:rPr lang="es-ES" sz="1600" dirty="0" err="1">
                <a:latin typeface="Consolas" panose="020B0609020204030204" pitchFamily="49" charset="0"/>
              </a:rPr>
              <a:t>lsmeans</a:t>
            </a:r>
            <a:r>
              <a:rPr lang="es-ES" sz="1600" dirty="0">
                <a:latin typeface="Consolas" panose="020B0609020204030204" pitchFamily="49" charset="0"/>
              </a:rPr>
              <a:t>, </a:t>
            </a:r>
            <a:r>
              <a:rPr lang="es-ES" sz="1600" dirty="0" err="1">
                <a:latin typeface="Consolas" panose="020B0609020204030204" pitchFamily="49" charset="0"/>
              </a:rPr>
              <a:t>mgcv</a:t>
            </a:r>
            <a:r>
              <a:rPr lang="es-ES" sz="1600" dirty="0">
                <a:latin typeface="Consolas" panose="020B0609020204030204" pitchFamily="49" charset="0"/>
              </a:rPr>
              <a:t>, </a:t>
            </a:r>
            <a:r>
              <a:rPr lang="es-ES" sz="1600" dirty="0" smtClean="0">
                <a:latin typeface="Consolas" panose="020B0609020204030204" pitchFamily="49" charset="0"/>
              </a:rPr>
              <a:t>eR2WINBUGS, </a:t>
            </a:r>
            <a:r>
              <a:rPr lang="es-ES" sz="1600" dirty="0" err="1" smtClean="0">
                <a:latin typeface="Consolas" panose="020B0609020204030204" pitchFamily="49" charset="0"/>
              </a:rPr>
              <a:t>rjags</a:t>
            </a:r>
            <a:r>
              <a:rPr lang="es-ES" sz="1600" dirty="0" smtClean="0">
                <a:latin typeface="Consolas" panose="020B0609020204030204" pitchFamily="49" charset="0"/>
              </a:rPr>
              <a:t>, etc.</a:t>
            </a:r>
            <a:endParaRPr lang="es-ES" dirty="0" smtClean="0">
              <a:latin typeface="Consolas" panose="020B0609020204030204" pitchFamily="49" charset="0"/>
            </a:endParaRPr>
          </a:p>
          <a:p>
            <a:pPr lvl="0" algn="just">
              <a:defRPr/>
            </a:pPr>
            <a:r>
              <a:rPr lang="es-ES" sz="16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Espaciales</a:t>
            </a:r>
            <a:r>
              <a:rPr lang="es-ES" dirty="0" smtClean="0"/>
              <a:t> </a:t>
            </a:r>
            <a:r>
              <a:rPr lang="es-ES" sz="1600" dirty="0" err="1" smtClean="0">
                <a:latin typeface="Consolas" panose="020B0609020204030204" pitchFamily="49" charset="0"/>
              </a:rPr>
              <a:t>sdmTMB</a:t>
            </a:r>
            <a:r>
              <a:rPr lang="es-ES" sz="1600" dirty="0">
                <a:latin typeface="Consolas" panose="020B0609020204030204" pitchFamily="49" charset="0"/>
              </a:rPr>
              <a:t>, </a:t>
            </a:r>
            <a:r>
              <a:rPr lang="es-ES" sz="1600" dirty="0" smtClean="0">
                <a:latin typeface="Consolas" panose="020B0609020204030204" pitchFamily="49" charset="0"/>
              </a:rPr>
              <a:t>INLA,</a:t>
            </a:r>
            <a:r>
              <a:rPr lang="es-ES" sz="1600" dirty="0">
                <a:latin typeface="Consolas" panose="020B0609020204030204" pitchFamily="49" charset="0"/>
              </a:rPr>
              <a:t> </a:t>
            </a:r>
            <a:r>
              <a:rPr lang="es-ES" sz="1600" dirty="0" err="1">
                <a:latin typeface="Consolas" panose="020B0609020204030204" pitchFamily="49" charset="0"/>
              </a:rPr>
              <a:t>sf</a:t>
            </a:r>
            <a:r>
              <a:rPr lang="es-ES" sz="1600" dirty="0">
                <a:latin typeface="Consolas" panose="020B0609020204030204" pitchFamily="49" charset="0"/>
              </a:rPr>
              <a:t>, </a:t>
            </a:r>
            <a:r>
              <a:rPr lang="es-ES" sz="1600" dirty="0" err="1">
                <a:latin typeface="Consolas" panose="020B0609020204030204" pitchFamily="49" charset="0"/>
              </a:rPr>
              <a:t>rnaturalearth</a:t>
            </a:r>
            <a:r>
              <a:rPr lang="es-ES" sz="1600" dirty="0" smtClean="0">
                <a:latin typeface="Consolas" panose="020B0609020204030204" pitchFamily="49" charset="0"/>
              </a:rPr>
              <a:t>,</a:t>
            </a:r>
            <a:r>
              <a:rPr lang="es-ES" sz="1600" dirty="0">
                <a:latin typeface="Consolas" panose="020B0609020204030204" pitchFamily="49" charset="0"/>
              </a:rPr>
              <a:t> </a:t>
            </a:r>
            <a:r>
              <a:rPr lang="es-ES" sz="1600" dirty="0" err="1">
                <a:latin typeface="Consolas" panose="020B0609020204030204" pitchFamily="49" charset="0"/>
              </a:rPr>
              <a:t>maps</a:t>
            </a:r>
            <a:r>
              <a:rPr lang="es-ES" sz="1600" dirty="0">
                <a:latin typeface="Consolas" panose="020B0609020204030204" pitchFamily="49" charset="0"/>
              </a:rPr>
              <a:t>,</a:t>
            </a:r>
            <a:r>
              <a:rPr lang="es-ES" sz="1600" dirty="0" smtClean="0">
                <a:latin typeface="Consolas" panose="020B0609020204030204" pitchFamily="49" charset="0"/>
              </a:rPr>
              <a:t> </a:t>
            </a:r>
            <a:r>
              <a:rPr lang="es-ES" sz="1600" dirty="0" err="1">
                <a:latin typeface="Consolas" panose="020B0609020204030204" pitchFamily="49" charset="0"/>
              </a:rPr>
              <a:t>rgeos</a:t>
            </a:r>
            <a:r>
              <a:rPr lang="es-ES" sz="1600" dirty="0" smtClean="0">
                <a:latin typeface="Consolas" panose="020B0609020204030204" pitchFamily="49" charset="0"/>
              </a:rPr>
              <a:t>, </a:t>
            </a:r>
            <a:r>
              <a:rPr lang="es-ES" sz="1600" dirty="0" err="1" smtClean="0">
                <a:latin typeface="Consolas" panose="020B0609020204030204" pitchFamily="49" charset="0"/>
              </a:rPr>
              <a:t>marmap</a:t>
            </a:r>
            <a:r>
              <a:rPr lang="es-ES" sz="1600" dirty="0" smtClean="0">
                <a:latin typeface="Consolas" panose="020B0609020204030204" pitchFamily="49" charset="0"/>
              </a:rPr>
              <a:t>, </a:t>
            </a:r>
            <a:r>
              <a:rPr lang="es-ES" sz="1600" dirty="0" err="1" smtClean="0">
                <a:latin typeface="Consolas" panose="020B0609020204030204" pitchFamily="49" charset="0"/>
              </a:rPr>
              <a:t>rnaturalearthdata</a:t>
            </a:r>
            <a:r>
              <a:rPr lang="es-ES" sz="1600" dirty="0">
                <a:latin typeface="Consolas" panose="020B0609020204030204" pitchFamily="49" charset="0"/>
              </a:rPr>
              <a:t>, </a:t>
            </a:r>
            <a:r>
              <a:rPr lang="es-ES" sz="1600" dirty="0" err="1" smtClean="0">
                <a:latin typeface="Consolas" panose="020B0609020204030204" pitchFamily="49" charset="0"/>
              </a:rPr>
              <a:t>rgdal</a:t>
            </a:r>
            <a:r>
              <a:rPr lang="es-ES" sz="1600" dirty="0">
                <a:latin typeface="Consolas" panose="020B0609020204030204" pitchFamily="49" charset="0"/>
              </a:rPr>
              <a:t>, </a:t>
            </a:r>
            <a:r>
              <a:rPr lang="es-ES" sz="1600" dirty="0" smtClean="0">
                <a:latin typeface="Consolas" panose="020B0609020204030204" pitchFamily="49" charset="0"/>
              </a:rPr>
              <a:t>etc.</a:t>
            </a:r>
            <a:endParaRPr lang="es-ES" dirty="0" smtClean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209549" y="822293"/>
            <a:ext cx="5751022" cy="1631216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s-ES" dirty="0" smtClean="0">
                <a:solidFill>
                  <a:srgbClr val="0070C0"/>
                </a:solidFill>
                <a:latin typeface="Consolas" panose="020B0609020204030204" pitchFamily="49" charset="0"/>
              </a:rPr>
              <a:t>ORPS</a:t>
            </a: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 smtClean="0">
                <a:solidFill>
                  <a:prstClr val="black"/>
                </a:solidFill>
                <a:latin typeface="Consolas" panose="020B0609020204030204" pitchFamily="49" charset="0"/>
              </a:rPr>
              <a:t>ICES, CGPM, NAFO, ICCAT, IOTC, CECAF</a:t>
            </a:r>
          </a:p>
          <a:p>
            <a:pPr lvl="0" algn="just">
              <a:defRPr/>
            </a:pPr>
            <a:r>
              <a:rPr lang="es-ES" dirty="0" smtClean="0">
                <a:solidFill>
                  <a:srgbClr val="0070C0"/>
                </a:solidFill>
                <a:latin typeface="Consolas" panose="020B0609020204030204" pitchFamily="49" charset="0"/>
              </a:rPr>
              <a:t>STOCKS</a:t>
            </a:r>
            <a:r>
              <a:rPr lang="es-ES" dirty="0" smtClean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s-ES" sz="1600" dirty="0" err="1" smtClean="0">
                <a:solidFill>
                  <a:prstClr val="black"/>
                </a:solidFill>
                <a:latin typeface="Consolas" panose="020B0609020204030204" pitchFamily="49" charset="0"/>
              </a:rPr>
              <a:t>Balacao</a:t>
            </a:r>
            <a:r>
              <a:rPr lang="es-ES" sz="1600" dirty="0" smtClean="0">
                <a:solidFill>
                  <a:prstClr val="black"/>
                </a:solidFill>
                <a:latin typeface="Consolas" panose="020B0609020204030204" pitchFamily="49" charset="0"/>
              </a:rPr>
              <a:t> NAFO, Anchoa, sardina, jurel y pesquerías mixtas </a:t>
            </a:r>
            <a:r>
              <a:rPr lang="es-ES" sz="1600" dirty="0">
                <a:solidFill>
                  <a:prstClr val="black"/>
                </a:solidFill>
                <a:latin typeface="Consolas" panose="020B0609020204030204" pitchFamily="49" charset="0"/>
              </a:rPr>
              <a:t>9</a:t>
            </a:r>
            <a:r>
              <a:rPr lang="es-ES" sz="1600" dirty="0" smtClean="0">
                <a:solidFill>
                  <a:prstClr val="black"/>
                </a:solidFill>
                <a:latin typeface="Consolas" panose="020B0609020204030204" pitchFamily="49" charset="0"/>
              </a:rPr>
              <a:t>a, lenguado 8c y 9a ICES, atún rojo, pez espada, </a:t>
            </a:r>
            <a:r>
              <a:rPr lang="es-ES" sz="1600" dirty="0" err="1" smtClean="0">
                <a:solidFill>
                  <a:prstClr val="black"/>
                </a:solidFill>
                <a:latin typeface="Consolas" panose="020B0609020204030204" pitchFamily="49" charset="0"/>
              </a:rPr>
              <a:t>túnidos</a:t>
            </a:r>
            <a:r>
              <a:rPr lang="es-ES" sz="1600" dirty="0" smtClean="0">
                <a:solidFill>
                  <a:prstClr val="black"/>
                </a:solidFill>
                <a:latin typeface="Consolas" panose="020B0609020204030204" pitchFamily="49" charset="0"/>
              </a:rPr>
              <a:t> tropicales, atún blanco de ICCAT, </a:t>
            </a:r>
            <a:r>
              <a:rPr lang="es-ES" sz="1600" dirty="0" err="1" smtClean="0">
                <a:solidFill>
                  <a:prstClr val="black"/>
                </a:solidFill>
                <a:latin typeface="Consolas" panose="020B0609020204030204" pitchFamily="49" charset="0"/>
              </a:rPr>
              <a:t>túnidos</a:t>
            </a:r>
            <a:r>
              <a:rPr lang="es-ES" sz="1600" dirty="0" smtClean="0">
                <a:solidFill>
                  <a:prstClr val="black"/>
                </a:solidFill>
                <a:latin typeface="Consolas" panose="020B0609020204030204" pitchFamily="49" charset="0"/>
              </a:rPr>
              <a:t> tropicales IOTC, voraz CGPM, merluzas negras, palometa, descartes CECAF</a:t>
            </a:r>
            <a:endParaRPr lang="es-ES" sz="16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Más 10"/>
          <p:cNvSpPr>
            <a:spLocks noChangeAspect="1"/>
          </p:cNvSpPr>
          <p:nvPr/>
        </p:nvSpPr>
        <p:spPr>
          <a:xfrm>
            <a:off x="6229346" y="1362074"/>
            <a:ext cx="312254" cy="324000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Más 15"/>
          <p:cNvSpPr>
            <a:spLocks noChangeAspect="1"/>
          </p:cNvSpPr>
          <p:nvPr/>
        </p:nvSpPr>
        <p:spPr>
          <a:xfrm>
            <a:off x="2638421" y="2533649"/>
            <a:ext cx="312254" cy="324000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Igual que 14"/>
          <p:cNvSpPr>
            <a:spLocks noChangeAspect="1"/>
          </p:cNvSpPr>
          <p:nvPr/>
        </p:nvSpPr>
        <p:spPr>
          <a:xfrm>
            <a:off x="9010650" y="4838700"/>
            <a:ext cx="324000" cy="324000"/>
          </a:xfrm>
          <a:prstGeom prst="mathEqual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0" name="Más 19"/>
          <p:cNvSpPr>
            <a:spLocks noChangeAspect="1"/>
          </p:cNvSpPr>
          <p:nvPr/>
        </p:nvSpPr>
        <p:spPr>
          <a:xfrm>
            <a:off x="9010646" y="2295524"/>
            <a:ext cx="312254" cy="324000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 redondeado 18"/>
          <p:cNvSpPr/>
          <p:nvPr/>
        </p:nvSpPr>
        <p:spPr>
          <a:xfrm>
            <a:off x="6838431" y="5200799"/>
            <a:ext cx="4801120" cy="1551879"/>
          </a:xfrm>
          <a:prstGeom prst="roundRect">
            <a:avLst/>
          </a:prstGeom>
          <a:noFill/>
          <a:ln w="444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Rectángulo 20"/>
          <p:cNvSpPr/>
          <p:nvPr/>
        </p:nvSpPr>
        <p:spPr>
          <a:xfrm>
            <a:off x="6838431" y="5275351"/>
            <a:ext cx="480111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 smtClean="0">
                <a:solidFill>
                  <a:srgbClr val="0070C0"/>
                </a:solidFill>
              </a:rPr>
              <a:t>EQUIPO </a:t>
            </a:r>
            <a:r>
              <a:rPr lang="es-ES" dirty="0" smtClean="0">
                <a:solidFill>
                  <a:srgbClr val="0070C0"/>
                </a:solidFill>
              </a:rPr>
              <a:t>REFERENTE EN EL IEO-PESCA</a:t>
            </a:r>
            <a:endParaRPr lang="es-ES" dirty="0" smtClean="0">
              <a:solidFill>
                <a:srgbClr val="0070C0"/>
              </a:solidFill>
            </a:endParaRPr>
          </a:p>
          <a:p>
            <a:r>
              <a:rPr lang="es-ES" dirty="0" smtClean="0"/>
              <a:t>alto </a:t>
            </a:r>
            <a:r>
              <a:rPr lang="es-ES" dirty="0"/>
              <a:t>conocimiento matemático, </a:t>
            </a:r>
            <a:r>
              <a:rPr lang="es-ES" dirty="0" smtClean="0"/>
              <a:t>estadístico y </a:t>
            </a:r>
          </a:p>
          <a:p>
            <a:r>
              <a:rPr lang="es-ES" dirty="0" smtClean="0"/>
              <a:t>computacional al servicio del PNDB con </a:t>
            </a:r>
          </a:p>
          <a:p>
            <a:r>
              <a:rPr lang="es-ES" dirty="0" smtClean="0"/>
              <a:t>capacidad de afrontar los retos metodológicos </a:t>
            </a:r>
          </a:p>
          <a:p>
            <a:r>
              <a:rPr lang="es-ES" dirty="0" smtClean="0"/>
              <a:t>en </a:t>
            </a:r>
            <a:r>
              <a:rPr lang="es-ES" dirty="0"/>
              <a:t>evaluación de </a:t>
            </a:r>
            <a:r>
              <a:rPr lang="es-ES" dirty="0" smtClean="0"/>
              <a:t>stocks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2510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2" y="776290"/>
            <a:ext cx="4808718" cy="3420000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5" name="CuadroTexto 4"/>
          <p:cNvSpPr txBox="1"/>
          <p:nvPr/>
        </p:nvSpPr>
        <p:spPr>
          <a:xfrm>
            <a:off x="4295775" y="200025"/>
            <a:ext cx="3603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smtClean="0">
                <a:solidFill>
                  <a:srgbClr val="0070C0"/>
                </a:solidFill>
                <a:latin typeface="Consolas" panose="020B0609020204030204" pitchFamily="49" charset="0"/>
              </a:rPr>
              <a:t>QUAR </a:t>
            </a:r>
            <a:r>
              <a:rPr kumimoji="0" lang="es-E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</a:rPr>
              <a:t>GRUPOS DE TRABAJO PNDB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812" y="804862"/>
            <a:ext cx="4676898" cy="3420000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4029075" y="4610100"/>
            <a:ext cx="4110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smtClean="0">
                <a:solidFill>
                  <a:srgbClr val="0070C0"/>
                </a:solidFill>
                <a:latin typeface="Consolas" panose="020B0609020204030204" pitchFamily="49" charset="0"/>
              </a:rPr>
              <a:t>QUAR SIMPOSIOS Y CONGRESOS </a:t>
            </a:r>
            <a:r>
              <a:rPr kumimoji="0" lang="es-E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</a:rPr>
              <a:t>PNDB</a:t>
            </a:r>
          </a:p>
        </p:txBody>
      </p:sp>
      <p:pic>
        <p:nvPicPr>
          <p:cNvPr id="3074" name="Picture 2" descr="Inicio - ISMS Valencia 202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775" y="5200650"/>
            <a:ext cx="854676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Echoview Software on LinkedIn: Call for abstract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5075" y="5229225"/>
            <a:ext cx="192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Abiertas las inscripciones para la sexta edición de Sibecorp que se  celebrará en Lisboa en 202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851" y="5243512"/>
            <a:ext cx="1718181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Comunidad R Hispano en LinkedIn: #r #rtieneuncolorespecial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6651" y="5199062"/>
            <a:ext cx="2367123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1917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redondeado 12"/>
          <p:cNvSpPr/>
          <p:nvPr/>
        </p:nvSpPr>
        <p:spPr>
          <a:xfrm>
            <a:off x="1495425" y="3733800"/>
            <a:ext cx="4469262" cy="291465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redondeado 13"/>
          <p:cNvSpPr/>
          <p:nvPr/>
        </p:nvSpPr>
        <p:spPr>
          <a:xfrm>
            <a:off x="6838950" y="3790950"/>
            <a:ext cx="4459737" cy="2914650"/>
          </a:xfrm>
          <a:prstGeom prst="roundRect">
            <a:avLst/>
          </a:prstGeom>
          <a:solidFill>
            <a:srgbClr val="CC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redondeado 14"/>
          <p:cNvSpPr/>
          <p:nvPr/>
        </p:nvSpPr>
        <p:spPr>
          <a:xfrm>
            <a:off x="6838950" y="771525"/>
            <a:ext cx="4440687" cy="2914650"/>
          </a:xfrm>
          <a:prstGeom prst="round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redondeado 1"/>
          <p:cNvSpPr/>
          <p:nvPr/>
        </p:nvSpPr>
        <p:spPr>
          <a:xfrm>
            <a:off x="1514475" y="714375"/>
            <a:ext cx="4450212" cy="2914650"/>
          </a:xfrm>
          <a:prstGeom prst="round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/>
          <p:cNvSpPr txBox="1"/>
          <p:nvPr/>
        </p:nvSpPr>
        <p:spPr>
          <a:xfrm>
            <a:off x="5840862" y="3385550"/>
            <a:ext cx="108876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 smtClean="0">
                <a:solidFill>
                  <a:srgbClr val="FF9900"/>
                </a:solidFill>
                <a:latin typeface="Consolas" panose="020B0609020204030204" pitchFamily="49" charset="0"/>
              </a:rPr>
              <a:t>D</a:t>
            </a:r>
            <a:r>
              <a:rPr lang="es-ES" sz="3200" dirty="0" smtClean="0">
                <a:solidFill>
                  <a:srgbClr val="CC9900"/>
                </a:solidFill>
                <a:latin typeface="Consolas" panose="020B0609020204030204" pitchFamily="49" charset="0"/>
              </a:rPr>
              <a:t>A</a:t>
            </a:r>
            <a:r>
              <a:rPr lang="es-ES" sz="3200" dirty="0" smtClean="0">
                <a:solidFill>
                  <a:srgbClr val="006600"/>
                </a:solidFill>
                <a:latin typeface="Consolas" panose="020B0609020204030204" pitchFamily="49" charset="0"/>
              </a:rPr>
              <a:t>F</a:t>
            </a:r>
            <a:r>
              <a:rPr lang="es-ES" sz="3200" dirty="0" smtClean="0">
                <a:solidFill>
                  <a:srgbClr val="669900"/>
                </a:solidFill>
                <a:latin typeface="Consolas" panose="020B0609020204030204" pitchFamily="49" charset="0"/>
              </a:rPr>
              <a:t>O</a:t>
            </a:r>
            <a:endParaRPr lang="es-ES" dirty="0">
              <a:solidFill>
                <a:srgbClr val="6699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1514474" y="716890"/>
            <a:ext cx="4302759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 smtClean="0">
                <a:solidFill>
                  <a:srgbClr val="FF9900"/>
                </a:solidFill>
                <a:latin typeface="Consolas" panose="020B0609020204030204" pitchFamily="49" charset="0"/>
              </a:rPr>
              <a:t>D</a:t>
            </a:r>
            <a:r>
              <a:rPr lang="es-ES" dirty="0" smtClean="0">
                <a:solidFill>
                  <a:srgbClr val="FF9900"/>
                </a:solidFill>
                <a:latin typeface="Consolas" panose="020B0609020204030204" pitchFamily="49" charset="0"/>
              </a:rPr>
              <a:t>ebilidades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rgbClr val="FF9900"/>
                </a:solidFill>
                <a:latin typeface="Consolas" panose="020B0609020204030204" pitchFamily="49" charset="0"/>
              </a:rPr>
              <a:t>Bajo </a:t>
            </a:r>
            <a:r>
              <a:rPr lang="es-ES" sz="1600" dirty="0" smtClean="0">
                <a:solidFill>
                  <a:srgbClr val="FF9900"/>
                </a:solidFill>
                <a:latin typeface="Consolas" panose="020B0609020204030204" pitchFamily="49" charset="0"/>
              </a:rPr>
              <a:t>porcentaje horas dedicación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rgbClr val="FF9900"/>
                </a:solidFill>
                <a:latin typeface="Consolas" panose="020B0609020204030204" pitchFamily="49" charset="0"/>
              </a:rPr>
              <a:t>Elevada</a:t>
            </a:r>
            <a:r>
              <a:rPr lang="es-ES" sz="1600" dirty="0" smtClean="0">
                <a:solidFill>
                  <a:srgbClr val="FF9900"/>
                </a:solidFill>
                <a:latin typeface="Consolas" panose="020B0609020204030204" pitchFamily="49" charset="0"/>
              </a:rPr>
              <a:t>  </a:t>
            </a:r>
            <a:r>
              <a:rPr lang="es-ES" sz="1600" dirty="0" smtClean="0">
                <a:solidFill>
                  <a:srgbClr val="FF9900"/>
                </a:solidFill>
                <a:latin typeface="Consolas" panose="020B0609020204030204" pitchFamily="49" charset="0"/>
              </a:rPr>
              <a:t>carga de </a:t>
            </a:r>
            <a:r>
              <a:rPr lang="es-ES" sz="1600" dirty="0" smtClean="0">
                <a:solidFill>
                  <a:srgbClr val="FF9900"/>
                </a:solidFill>
                <a:latin typeface="Consolas" panose="020B0609020204030204" pitchFamily="49" charset="0"/>
              </a:rPr>
              <a:t>trabajo.</a:t>
            </a:r>
            <a:endParaRPr lang="es-ES" sz="1600" dirty="0" smtClean="0">
              <a:solidFill>
                <a:srgbClr val="FF9900"/>
              </a:solidFill>
              <a:latin typeface="Consolas" panose="020B0609020204030204" pitchFamily="49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rgbClr val="FF9900"/>
                </a:solidFill>
                <a:latin typeface="Consolas" panose="020B0609020204030204" pitchFamily="49" charset="0"/>
              </a:rPr>
              <a:t>Difícil coordinación </a:t>
            </a:r>
            <a:r>
              <a:rPr lang="es-ES" sz="1600" dirty="0" smtClean="0">
                <a:solidFill>
                  <a:srgbClr val="FF9900"/>
                </a:solidFill>
                <a:latin typeface="Consolas" panose="020B0609020204030204" pitchFamily="49" charset="0"/>
              </a:rPr>
              <a:t>actividades con otros </a:t>
            </a:r>
            <a:r>
              <a:rPr lang="es-ES" sz="1600" dirty="0" smtClean="0">
                <a:solidFill>
                  <a:srgbClr val="FF9900"/>
                </a:solidFill>
                <a:latin typeface="Consolas" panose="020B0609020204030204" pitchFamily="49" charset="0"/>
              </a:rPr>
              <a:t>proyectos.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rgbClr val="FF9900"/>
                </a:solidFill>
                <a:latin typeface="Consolas" panose="020B0609020204030204" pitchFamily="49" charset="0"/>
              </a:rPr>
              <a:t>Necesidad de personal con dedicación completa al proyecto.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rgbClr val="FF9900"/>
                </a:solidFill>
                <a:latin typeface="Consolas" panose="020B0609020204030204" pitchFamily="49" charset="0"/>
              </a:rPr>
              <a:t>Falta de recursos para la necesaria formación continua interna y en el área de pesca.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rgbClr val="FF9900"/>
                </a:solidFill>
                <a:latin typeface="Consolas" panose="020B0609020204030204" pitchFamily="49" charset="0"/>
              </a:rPr>
              <a:t>Desarrollo software R IEO. </a:t>
            </a:r>
            <a:endParaRPr lang="es-ES" sz="1600" dirty="0" smtClean="0">
              <a:solidFill>
                <a:srgbClr val="FF9900"/>
              </a:solidFill>
              <a:latin typeface="Consolas" panose="020B0609020204030204" pitchFamily="49" charset="0"/>
            </a:endParaRPr>
          </a:p>
          <a:p>
            <a:pPr algn="just"/>
            <a:endParaRPr lang="es-ES" dirty="0">
              <a:solidFill>
                <a:srgbClr val="FF9900"/>
              </a:solidFill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7115175" y="3787148"/>
            <a:ext cx="4048125" cy="290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 smtClean="0">
                <a:solidFill>
                  <a:srgbClr val="669900"/>
                </a:solidFill>
                <a:latin typeface="Consolas" panose="020B0609020204030204" pitchFamily="49" charset="0"/>
              </a:rPr>
              <a:t>O</a:t>
            </a:r>
            <a:r>
              <a:rPr lang="es-ES" dirty="0" smtClean="0">
                <a:solidFill>
                  <a:srgbClr val="669900"/>
                </a:solidFill>
                <a:latin typeface="Consolas" panose="020B0609020204030204" pitchFamily="49" charset="0"/>
              </a:rPr>
              <a:t>portunidades</a:t>
            </a:r>
            <a:endParaRPr lang="es-ES" sz="1500" dirty="0" smtClean="0">
              <a:solidFill>
                <a:srgbClr val="669900"/>
              </a:solidFill>
              <a:latin typeface="Consolas" panose="020B0609020204030204" pitchFamily="49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500" dirty="0" smtClean="0">
                <a:solidFill>
                  <a:srgbClr val="669900"/>
                </a:solidFill>
                <a:latin typeface="Consolas" panose="020B0609020204030204" pitchFamily="49" charset="0"/>
              </a:rPr>
              <a:t>Bajo </a:t>
            </a:r>
            <a:r>
              <a:rPr lang="es-ES" sz="1500" dirty="0" smtClean="0">
                <a:solidFill>
                  <a:srgbClr val="669900"/>
                </a:solidFill>
                <a:latin typeface="Consolas" panose="020B0609020204030204" pitchFamily="49" charset="0"/>
              </a:rPr>
              <a:t>coste del </a:t>
            </a:r>
            <a:r>
              <a:rPr lang="es-ES" sz="1500" dirty="0" smtClean="0">
                <a:solidFill>
                  <a:srgbClr val="669900"/>
                </a:solidFill>
                <a:latin typeface="Consolas" panose="020B0609020204030204" pitchFamily="49" charset="0"/>
              </a:rPr>
              <a:t>proyecto.</a:t>
            </a:r>
            <a:endParaRPr lang="es-ES" sz="1500" dirty="0" smtClean="0">
              <a:solidFill>
                <a:srgbClr val="669900"/>
              </a:solidFill>
              <a:latin typeface="Consolas" panose="020B0609020204030204" pitchFamily="49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500" dirty="0" smtClean="0">
                <a:solidFill>
                  <a:srgbClr val="669900"/>
                </a:solidFill>
                <a:latin typeface="Consolas" panose="020B0609020204030204" pitchFamily="49" charset="0"/>
              </a:rPr>
              <a:t>Estabilidad  a medio plazo </a:t>
            </a:r>
            <a:r>
              <a:rPr lang="es-ES" sz="1500" dirty="0" smtClean="0">
                <a:solidFill>
                  <a:srgbClr val="669900"/>
                </a:solidFill>
                <a:latin typeface="Consolas" panose="020B0609020204030204" pitchFamily="49" charset="0"/>
              </a:rPr>
              <a:t>FEMPA.</a:t>
            </a:r>
            <a:endParaRPr lang="es-ES" sz="1500" dirty="0" smtClean="0">
              <a:solidFill>
                <a:srgbClr val="669900"/>
              </a:solidFill>
              <a:latin typeface="Consolas" panose="020B0609020204030204" pitchFamily="49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rgbClr val="669900"/>
                </a:solidFill>
                <a:latin typeface="Consolas" panose="020B0609020204030204" pitchFamily="49" charset="0"/>
              </a:rPr>
              <a:t>Financiación externa Plan Estatal de </a:t>
            </a:r>
            <a:r>
              <a:rPr lang="es-ES" sz="1500" dirty="0" smtClean="0">
                <a:solidFill>
                  <a:srgbClr val="669900"/>
                </a:solidFill>
                <a:latin typeface="Consolas" panose="020B0609020204030204" pitchFamily="49" charset="0"/>
              </a:rPr>
              <a:t>I+D+I. </a:t>
            </a:r>
            <a:endParaRPr lang="es-ES" sz="1500" dirty="0" smtClean="0">
              <a:solidFill>
                <a:srgbClr val="669900"/>
              </a:solidFill>
              <a:latin typeface="Consolas" panose="020B0609020204030204" pitchFamily="49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500" dirty="0" smtClean="0">
                <a:solidFill>
                  <a:srgbClr val="669900"/>
                </a:solidFill>
                <a:latin typeface="Consolas" panose="020B0609020204030204" pitchFamily="49" charset="0"/>
              </a:rPr>
              <a:t>Contratación </a:t>
            </a:r>
            <a:r>
              <a:rPr lang="es-ES" sz="1500" dirty="0" smtClean="0">
                <a:solidFill>
                  <a:srgbClr val="669900"/>
                </a:solidFill>
                <a:latin typeface="Consolas" panose="020B0609020204030204" pitchFamily="49" charset="0"/>
              </a:rPr>
              <a:t>PNDB.</a:t>
            </a:r>
            <a:endParaRPr lang="es-ES" sz="1500" dirty="0" smtClean="0">
              <a:solidFill>
                <a:srgbClr val="669900"/>
              </a:solidFill>
              <a:latin typeface="Consolas" panose="020B0609020204030204" pitchFamily="49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500" dirty="0" smtClean="0">
                <a:solidFill>
                  <a:srgbClr val="669900"/>
                </a:solidFill>
                <a:latin typeface="Consolas" panose="020B0609020204030204" pitchFamily="49" charset="0"/>
              </a:rPr>
              <a:t>Nuevas incorporaciones </a:t>
            </a:r>
            <a:r>
              <a:rPr lang="es-ES" sz="1500" dirty="0" smtClean="0">
                <a:solidFill>
                  <a:srgbClr val="669900"/>
                </a:solidFill>
                <a:latin typeface="Consolas" panose="020B0609020204030204" pitchFamily="49" charset="0"/>
              </a:rPr>
              <a:t>OEP.</a:t>
            </a:r>
            <a:endParaRPr lang="es-ES" sz="1500" dirty="0" smtClean="0">
              <a:solidFill>
                <a:srgbClr val="669900"/>
              </a:solidFill>
              <a:latin typeface="Consolas" panose="020B0609020204030204" pitchFamily="49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500" dirty="0" smtClean="0">
                <a:solidFill>
                  <a:srgbClr val="669900"/>
                </a:solidFill>
                <a:latin typeface="Consolas" panose="020B0609020204030204" pitchFamily="49" charset="0"/>
              </a:rPr>
              <a:t>Impacto en la </a:t>
            </a:r>
            <a:r>
              <a:rPr lang="es-ES" sz="1500" dirty="0" smtClean="0">
                <a:solidFill>
                  <a:srgbClr val="669900"/>
                </a:solidFill>
                <a:latin typeface="Consolas" panose="020B0609020204030204" pitchFamily="49" charset="0"/>
              </a:rPr>
              <a:t>sociedad.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500" dirty="0" smtClean="0">
                <a:solidFill>
                  <a:srgbClr val="669900"/>
                </a:solidFill>
                <a:latin typeface="Consolas" panose="020B0609020204030204" pitchFamily="49" charset="0"/>
              </a:rPr>
              <a:t>Proyecto necesario y demandado en el área de pesca.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500" dirty="0" smtClean="0">
                <a:solidFill>
                  <a:srgbClr val="669900"/>
                </a:solidFill>
                <a:latin typeface="Consolas" panose="020B0609020204030204" pitchFamily="49" charset="0"/>
              </a:rPr>
              <a:t>Referente en evaluación de stocks en el área de pesca.</a:t>
            </a:r>
            <a:endParaRPr lang="es-ES" dirty="0">
              <a:solidFill>
                <a:srgbClr val="669900"/>
              </a:solidFill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6953249" y="723744"/>
            <a:ext cx="4302759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 smtClean="0">
                <a:solidFill>
                  <a:srgbClr val="CC9900"/>
                </a:solidFill>
                <a:latin typeface="Consolas" panose="020B0609020204030204" pitchFamily="49" charset="0"/>
              </a:rPr>
              <a:t>A</a:t>
            </a:r>
            <a:r>
              <a:rPr lang="es-ES" dirty="0" smtClean="0">
                <a:solidFill>
                  <a:srgbClr val="CC9900"/>
                </a:solidFill>
                <a:latin typeface="Consolas" panose="020B0609020204030204" pitchFamily="49" charset="0"/>
              </a:rPr>
              <a:t>menazas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rgbClr val="CC9900"/>
                </a:solidFill>
                <a:latin typeface="Consolas" panose="020B0609020204030204" pitchFamily="49" charset="0"/>
              </a:rPr>
              <a:t>Pérdida </a:t>
            </a:r>
            <a:r>
              <a:rPr lang="es-ES" sz="1600" dirty="0" smtClean="0">
                <a:solidFill>
                  <a:srgbClr val="CC9900"/>
                </a:solidFill>
                <a:latin typeface="Consolas" panose="020B0609020204030204" pitchFamily="49" charset="0"/>
              </a:rPr>
              <a:t>de presencia de pesca dentro de las áreas del IEO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rgbClr val="CC9900"/>
                </a:solidFill>
                <a:latin typeface="Consolas" panose="020B0609020204030204" pitchFamily="49" charset="0"/>
              </a:rPr>
              <a:t>Liderazgo en grupos </a:t>
            </a:r>
            <a:r>
              <a:rPr lang="es-ES" sz="1600" dirty="0" smtClean="0">
                <a:solidFill>
                  <a:srgbClr val="CC9900"/>
                </a:solidFill>
                <a:latin typeface="Consolas" panose="020B0609020204030204" pitchFamily="49" charset="0"/>
              </a:rPr>
              <a:t>internacionales de métodos de evaluación</a:t>
            </a:r>
            <a:endParaRPr lang="es-ES" sz="1600" dirty="0" smtClean="0">
              <a:solidFill>
                <a:srgbClr val="CC9900"/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rgbClr val="CC9900"/>
                </a:solidFill>
                <a:latin typeface="Consolas" panose="020B0609020204030204" pitchFamily="49" charset="0"/>
              </a:rPr>
              <a:t>Dificultades administrativas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rgbClr val="CC9900"/>
                </a:solidFill>
                <a:latin typeface="Consolas" panose="020B0609020204030204" pitchFamily="49" charset="0"/>
              </a:rPr>
              <a:t>Disciplina menos </a:t>
            </a:r>
            <a:r>
              <a:rPr lang="es-ES" sz="1600" dirty="0" smtClean="0">
                <a:solidFill>
                  <a:srgbClr val="CC9900"/>
                </a:solidFill>
                <a:latin typeface="Consolas" panose="020B0609020204030204" pitchFamily="49" charset="0"/>
              </a:rPr>
              <a:t>popular y desconocida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smtClean="0">
                <a:solidFill>
                  <a:srgbClr val="CC9900"/>
                </a:solidFill>
                <a:latin typeface="Consolas" panose="020B0609020204030204" pitchFamily="49" charset="0"/>
              </a:rPr>
              <a:t>Confusión con otros proyectos por desconocimiento</a:t>
            </a:r>
            <a:endParaRPr lang="es-ES" sz="1600" dirty="0">
              <a:solidFill>
                <a:srgbClr val="CC990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1495425" y="3783722"/>
            <a:ext cx="4469262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 smtClean="0">
                <a:solidFill>
                  <a:srgbClr val="006600"/>
                </a:solidFill>
                <a:latin typeface="Consolas" panose="020B0609020204030204" pitchFamily="49" charset="0"/>
              </a:rPr>
              <a:t>F</a:t>
            </a:r>
            <a:r>
              <a:rPr lang="es-ES" dirty="0" smtClean="0">
                <a:solidFill>
                  <a:srgbClr val="006600"/>
                </a:solidFill>
                <a:latin typeface="Consolas" panose="020B0609020204030204" pitchFamily="49" charset="0"/>
              </a:rPr>
              <a:t>ortalezas</a:t>
            </a:r>
            <a:endParaRPr lang="es-ES" sz="1600" dirty="0" smtClean="0">
              <a:solidFill>
                <a:srgbClr val="006600"/>
              </a:solidFill>
              <a:latin typeface="Consolas" panose="020B0609020204030204" pitchFamily="49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 smtClean="0">
                <a:solidFill>
                  <a:srgbClr val="006600"/>
                </a:solidFill>
                <a:latin typeface="Consolas" panose="020B0609020204030204" pitchFamily="49" charset="0"/>
              </a:rPr>
              <a:t>Formación altamente cualificada matemática, estadística y </a:t>
            </a:r>
            <a:r>
              <a:rPr lang="es-ES" sz="1400" dirty="0" smtClean="0">
                <a:solidFill>
                  <a:srgbClr val="006600"/>
                </a:solidFill>
                <a:latin typeface="Consolas" panose="020B0609020204030204" pitchFamily="49" charset="0"/>
              </a:rPr>
              <a:t>computacional. </a:t>
            </a:r>
            <a:endParaRPr lang="es-ES" sz="1400" dirty="0" smtClean="0">
              <a:solidFill>
                <a:srgbClr val="006600"/>
              </a:solidFill>
              <a:latin typeface="Consolas" panose="020B0609020204030204" pitchFamily="49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 smtClean="0">
                <a:solidFill>
                  <a:srgbClr val="006600"/>
                </a:solidFill>
                <a:latin typeface="Consolas" panose="020B0609020204030204" pitchFamily="49" charset="0"/>
              </a:rPr>
              <a:t>Capacidad </a:t>
            </a:r>
            <a:r>
              <a:rPr lang="es-ES" sz="1400" dirty="0">
                <a:solidFill>
                  <a:srgbClr val="006600"/>
                </a:solidFill>
                <a:latin typeface="Consolas" panose="020B0609020204030204" pitchFamily="49" charset="0"/>
              </a:rPr>
              <a:t>de afrontar los retos </a:t>
            </a:r>
            <a:r>
              <a:rPr lang="es-ES" sz="1400" dirty="0" smtClean="0">
                <a:solidFill>
                  <a:srgbClr val="006600"/>
                </a:solidFill>
                <a:latin typeface="Consolas" panose="020B0609020204030204" pitchFamily="49" charset="0"/>
              </a:rPr>
              <a:t>metodológicos en </a:t>
            </a:r>
            <a:r>
              <a:rPr lang="es-ES" sz="1400" dirty="0">
                <a:solidFill>
                  <a:srgbClr val="006600"/>
                </a:solidFill>
                <a:latin typeface="Consolas" panose="020B0609020204030204" pitchFamily="49" charset="0"/>
              </a:rPr>
              <a:t>evaluación de </a:t>
            </a:r>
            <a:r>
              <a:rPr lang="es-ES" sz="1400" dirty="0" smtClean="0">
                <a:solidFill>
                  <a:srgbClr val="006600"/>
                </a:solidFill>
                <a:latin typeface="Consolas" panose="020B0609020204030204" pitchFamily="49" charset="0"/>
              </a:rPr>
              <a:t>stocks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 smtClean="0">
                <a:solidFill>
                  <a:srgbClr val="006600"/>
                </a:solidFill>
                <a:latin typeface="Consolas" panose="020B0609020204030204" pitchFamily="49" charset="0"/>
              </a:rPr>
              <a:t>Difusión resultados: publicaciones revistas impacto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 smtClean="0">
                <a:solidFill>
                  <a:srgbClr val="006600"/>
                </a:solidFill>
                <a:latin typeface="Consolas" panose="020B0609020204030204" pitchFamily="49" charset="0"/>
              </a:rPr>
              <a:t>Visión global necesidades modelización pesca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 smtClean="0">
                <a:solidFill>
                  <a:srgbClr val="006600"/>
                </a:solidFill>
                <a:latin typeface="Consolas" panose="020B0609020204030204" pitchFamily="49" charset="0"/>
              </a:rPr>
              <a:t>Alta motivación trabajo en equipo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dirty="0" smtClean="0">
                <a:solidFill>
                  <a:srgbClr val="006600"/>
                </a:solidFill>
                <a:latin typeface="Consolas" panose="020B0609020204030204" pitchFamily="49" charset="0"/>
              </a:rPr>
              <a:t>Capacidad de aprendizaje y </a:t>
            </a:r>
            <a:r>
              <a:rPr lang="es-ES" sz="1400" dirty="0" smtClean="0">
                <a:solidFill>
                  <a:srgbClr val="006600"/>
                </a:solidFill>
                <a:latin typeface="Consolas" panose="020B0609020204030204" pitchFamily="49" charset="0"/>
              </a:rPr>
              <a:t>adaptación a retos metodológicos</a:t>
            </a:r>
            <a:endParaRPr lang="es-ES" sz="1400" dirty="0">
              <a:solidFill>
                <a:srgbClr val="0066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705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5124555" y="1948934"/>
            <a:ext cx="19591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dirty="0">
                <a:solidFill>
                  <a:srgbClr val="FF0000"/>
                </a:solidFill>
                <a:latin typeface="Consolas" panose="020B0609020204030204" pitchFamily="49" charset="0"/>
              </a:rPr>
              <a:t>¡</a:t>
            </a:r>
            <a:r>
              <a:rPr lang="es-ES" sz="28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GRACIAS!</a:t>
            </a:r>
            <a:endParaRPr lang="es-ES" sz="2800" dirty="0"/>
          </a:p>
        </p:txBody>
      </p:sp>
      <p:pic>
        <p:nvPicPr>
          <p:cNvPr id="28" name="Imagen 2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024" y="2636451"/>
            <a:ext cx="1579001" cy="158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39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2430</TotalTime>
  <Words>593</Words>
  <Application>Microsoft Office PowerPoint</Application>
  <PresentationFormat>Panorámica</PresentationFormat>
  <Paragraphs>120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Consolas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María Soto</dc:creator>
  <cp:lastModifiedBy>María Soto</cp:lastModifiedBy>
  <cp:revision>85</cp:revision>
  <cp:lastPrinted>2024-04-24T18:58:46Z</cp:lastPrinted>
  <dcterms:created xsi:type="dcterms:W3CDTF">2024-04-18T06:41:49Z</dcterms:created>
  <dcterms:modified xsi:type="dcterms:W3CDTF">2024-04-24T19:10:08Z</dcterms:modified>
</cp:coreProperties>
</file>