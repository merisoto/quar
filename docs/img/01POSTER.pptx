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56" r:id="rId2"/>
  </p:sldIdLst>
  <p:sldSz cx="30275213" cy="42803763"/>
  <p:notesSz cx="6858000" cy="9144000"/>
  <p:defaultTextStyle>
    <a:defPPr>
      <a:defRPr lang="es-ES"/>
    </a:defPPr>
    <a:lvl1pPr marL="0" algn="l" defTabSz="3507730" rtl="0" eaLnBrk="1" latinLnBrk="0" hangingPunct="1">
      <a:defRPr sz="6905" kern="1200">
        <a:solidFill>
          <a:schemeClr val="tx1"/>
        </a:solidFill>
        <a:latin typeface="+mn-lt"/>
        <a:ea typeface="+mn-ea"/>
        <a:cs typeface="+mn-cs"/>
      </a:defRPr>
    </a:lvl1pPr>
    <a:lvl2pPr marL="1753865" algn="l" defTabSz="3507730" rtl="0" eaLnBrk="1" latinLnBrk="0" hangingPunct="1">
      <a:defRPr sz="6905" kern="1200">
        <a:solidFill>
          <a:schemeClr val="tx1"/>
        </a:solidFill>
        <a:latin typeface="+mn-lt"/>
        <a:ea typeface="+mn-ea"/>
        <a:cs typeface="+mn-cs"/>
      </a:defRPr>
    </a:lvl2pPr>
    <a:lvl3pPr marL="3507730" algn="l" defTabSz="3507730" rtl="0" eaLnBrk="1" latinLnBrk="0" hangingPunct="1">
      <a:defRPr sz="6905" kern="1200">
        <a:solidFill>
          <a:schemeClr val="tx1"/>
        </a:solidFill>
        <a:latin typeface="+mn-lt"/>
        <a:ea typeface="+mn-ea"/>
        <a:cs typeface="+mn-cs"/>
      </a:defRPr>
    </a:lvl3pPr>
    <a:lvl4pPr marL="5261595" algn="l" defTabSz="3507730" rtl="0" eaLnBrk="1" latinLnBrk="0" hangingPunct="1">
      <a:defRPr sz="6905" kern="1200">
        <a:solidFill>
          <a:schemeClr val="tx1"/>
        </a:solidFill>
        <a:latin typeface="+mn-lt"/>
        <a:ea typeface="+mn-ea"/>
        <a:cs typeface="+mn-cs"/>
      </a:defRPr>
    </a:lvl4pPr>
    <a:lvl5pPr marL="7015460" algn="l" defTabSz="3507730" rtl="0" eaLnBrk="1" latinLnBrk="0" hangingPunct="1">
      <a:defRPr sz="6905" kern="1200">
        <a:solidFill>
          <a:schemeClr val="tx1"/>
        </a:solidFill>
        <a:latin typeface="+mn-lt"/>
        <a:ea typeface="+mn-ea"/>
        <a:cs typeface="+mn-cs"/>
      </a:defRPr>
    </a:lvl5pPr>
    <a:lvl6pPr marL="8769325" algn="l" defTabSz="3507730" rtl="0" eaLnBrk="1" latinLnBrk="0" hangingPunct="1">
      <a:defRPr sz="6905" kern="1200">
        <a:solidFill>
          <a:schemeClr val="tx1"/>
        </a:solidFill>
        <a:latin typeface="+mn-lt"/>
        <a:ea typeface="+mn-ea"/>
        <a:cs typeface="+mn-cs"/>
      </a:defRPr>
    </a:lvl6pPr>
    <a:lvl7pPr marL="10523190" algn="l" defTabSz="3507730" rtl="0" eaLnBrk="1" latinLnBrk="0" hangingPunct="1">
      <a:defRPr sz="6905" kern="1200">
        <a:solidFill>
          <a:schemeClr val="tx1"/>
        </a:solidFill>
        <a:latin typeface="+mn-lt"/>
        <a:ea typeface="+mn-ea"/>
        <a:cs typeface="+mn-cs"/>
      </a:defRPr>
    </a:lvl7pPr>
    <a:lvl8pPr marL="12277054" algn="l" defTabSz="3507730" rtl="0" eaLnBrk="1" latinLnBrk="0" hangingPunct="1">
      <a:defRPr sz="6905" kern="1200">
        <a:solidFill>
          <a:schemeClr val="tx1"/>
        </a:solidFill>
        <a:latin typeface="+mn-lt"/>
        <a:ea typeface="+mn-ea"/>
        <a:cs typeface="+mn-cs"/>
      </a:defRPr>
    </a:lvl8pPr>
    <a:lvl9pPr marL="14030919" algn="l" defTabSz="3507730" rtl="0" eaLnBrk="1" latinLnBrk="0" hangingPunct="1">
      <a:defRPr sz="690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1">
          <p15:clr>
            <a:srgbClr val="A4A3A4"/>
          </p15:clr>
        </p15:guide>
        <p15:guide id="2" pos="953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FF"/>
    <a:srgbClr val="339966"/>
    <a:srgbClr val="990033"/>
    <a:srgbClr val="5F5F5F"/>
    <a:srgbClr val="003300"/>
    <a:srgbClr val="00FFFF"/>
    <a:srgbClr val="00CC00"/>
    <a:srgbClr val="00CC66"/>
    <a:srgbClr val="00CC99"/>
    <a:srgbClr val="00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59" autoAdjust="0"/>
    <p:restoredTop sz="93883" autoAdjust="0"/>
  </p:normalViewPr>
  <p:slideViewPr>
    <p:cSldViewPr snapToGrid="0">
      <p:cViewPr>
        <p:scale>
          <a:sx n="47" d="100"/>
          <a:sy n="47" d="100"/>
        </p:scale>
        <p:origin x="696" y="-7884"/>
      </p:cViewPr>
      <p:guideLst>
        <p:guide orient="horz" pos="13481"/>
        <p:guide pos="9535"/>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6EA9BF-D3D2-473D-84B7-8802E4967909}" type="datetimeFigureOut">
              <a:rPr lang="es-ES" smtClean="0"/>
              <a:pPr/>
              <a:t>04/11/2025</a:t>
            </a:fld>
            <a:endParaRPr lang="es-ES"/>
          </a:p>
        </p:txBody>
      </p:sp>
      <p:sp>
        <p:nvSpPr>
          <p:cNvPr id="4" name="Marcador de imagen de diapositiva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F47D8A-C689-4980-97A3-13EDCF7A5228}" type="slidenum">
              <a:rPr lang="es-ES" smtClean="0"/>
              <a:pPr/>
              <a:t>‹Nº›</a:t>
            </a:fld>
            <a:endParaRPr lang="es-ES"/>
          </a:p>
        </p:txBody>
      </p:sp>
    </p:spTree>
    <p:extLst>
      <p:ext uri="{BB962C8B-B14F-4D97-AF65-F5344CB8AC3E}">
        <p14:creationId xmlns:p14="http://schemas.microsoft.com/office/powerpoint/2010/main" val="4191384967"/>
      </p:ext>
    </p:extLst>
  </p:cSld>
  <p:clrMap bg1="lt1" tx1="dk1" bg2="lt2" tx2="dk2" accent1="accent1" accent2="accent2" accent3="accent3" accent4="accent4" accent5="accent5" accent6="accent6" hlink="hlink" folHlink="folHlink"/>
  <p:notesStyle>
    <a:lvl1pPr marL="0" algn="l" defTabSz="3507730" rtl="0" eaLnBrk="1" latinLnBrk="0" hangingPunct="1">
      <a:defRPr sz="4603" kern="1200">
        <a:solidFill>
          <a:schemeClr val="tx1"/>
        </a:solidFill>
        <a:latin typeface="+mn-lt"/>
        <a:ea typeface="+mn-ea"/>
        <a:cs typeface="+mn-cs"/>
      </a:defRPr>
    </a:lvl1pPr>
    <a:lvl2pPr marL="1753865" algn="l" defTabSz="3507730" rtl="0" eaLnBrk="1" latinLnBrk="0" hangingPunct="1">
      <a:defRPr sz="4603" kern="1200">
        <a:solidFill>
          <a:schemeClr val="tx1"/>
        </a:solidFill>
        <a:latin typeface="+mn-lt"/>
        <a:ea typeface="+mn-ea"/>
        <a:cs typeface="+mn-cs"/>
      </a:defRPr>
    </a:lvl2pPr>
    <a:lvl3pPr marL="3507730" algn="l" defTabSz="3507730" rtl="0" eaLnBrk="1" latinLnBrk="0" hangingPunct="1">
      <a:defRPr sz="4603" kern="1200">
        <a:solidFill>
          <a:schemeClr val="tx1"/>
        </a:solidFill>
        <a:latin typeface="+mn-lt"/>
        <a:ea typeface="+mn-ea"/>
        <a:cs typeface="+mn-cs"/>
      </a:defRPr>
    </a:lvl3pPr>
    <a:lvl4pPr marL="5261595" algn="l" defTabSz="3507730" rtl="0" eaLnBrk="1" latinLnBrk="0" hangingPunct="1">
      <a:defRPr sz="4603" kern="1200">
        <a:solidFill>
          <a:schemeClr val="tx1"/>
        </a:solidFill>
        <a:latin typeface="+mn-lt"/>
        <a:ea typeface="+mn-ea"/>
        <a:cs typeface="+mn-cs"/>
      </a:defRPr>
    </a:lvl4pPr>
    <a:lvl5pPr marL="7015460" algn="l" defTabSz="3507730" rtl="0" eaLnBrk="1" latinLnBrk="0" hangingPunct="1">
      <a:defRPr sz="4603" kern="1200">
        <a:solidFill>
          <a:schemeClr val="tx1"/>
        </a:solidFill>
        <a:latin typeface="+mn-lt"/>
        <a:ea typeface="+mn-ea"/>
        <a:cs typeface="+mn-cs"/>
      </a:defRPr>
    </a:lvl5pPr>
    <a:lvl6pPr marL="8769325" algn="l" defTabSz="3507730" rtl="0" eaLnBrk="1" latinLnBrk="0" hangingPunct="1">
      <a:defRPr sz="4603" kern="1200">
        <a:solidFill>
          <a:schemeClr val="tx1"/>
        </a:solidFill>
        <a:latin typeface="+mn-lt"/>
        <a:ea typeface="+mn-ea"/>
        <a:cs typeface="+mn-cs"/>
      </a:defRPr>
    </a:lvl6pPr>
    <a:lvl7pPr marL="10523190" algn="l" defTabSz="3507730" rtl="0" eaLnBrk="1" latinLnBrk="0" hangingPunct="1">
      <a:defRPr sz="4603" kern="1200">
        <a:solidFill>
          <a:schemeClr val="tx1"/>
        </a:solidFill>
        <a:latin typeface="+mn-lt"/>
        <a:ea typeface="+mn-ea"/>
        <a:cs typeface="+mn-cs"/>
      </a:defRPr>
    </a:lvl7pPr>
    <a:lvl8pPr marL="12277054" algn="l" defTabSz="3507730" rtl="0" eaLnBrk="1" latinLnBrk="0" hangingPunct="1">
      <a:defRPr sz="4603" kern="1200">
        <a:solidFill>
          <a:schemeClr val="tx1"/>
        </a:solidFill>
        <a:latin typeface="+mn-lt"/>
        <a:ea typeface="+mn-ea"/>
        <a:cs typeface="+mn-cs"/>
      </a:defRPr>
    </a:lvl8pPr>
    <a:lvl9pPr marL="14030919" algn="l" defTabSz="3507730" rtl="0" eaLnBrk="1" latinLnBrk="0" hangingPunct="1">
      <a:defRPr sz="460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r>
              <a:rPr lang="es-ES" sz="4800" dirty="0">
                <a:solidFill>
                  <a:srgbClr val="002060"/>
                </a:solidFill>
                <a:latin typeface="Consolas" panose="020B0609020204030204" pitchFamily="49" charset="0"/>
              </a:rPr>
              <a:t>INTRODUCCIÓN</a:t>
            </a:r>
          </a:p>
          <a:p>
            <a:pPr algn="just"/>
            <a:r>
              <a:rPr lang="es-ES" sz="4800" dirty="0">
                <a:solidFill>
                  <a:srgbClr val="002060"/>
                </a:solidFill>
                <a:latin typeface="Consolas" panose="020B0609020204030204" pitchFamily="49" charset="0"/>
              </a:rPr>
              <a:t>La </a:t>
            </a:r>
            <a:r>
              <a:rPr lang="es-ES" sz="4800" dirty="0">
                <a:solidFill>
                  <a:srgbClr val="FF0000"/>
                </a:solidFill>
                <a:latin typeface="Consolas" panose="020B0609020204030204" pitchFamily="49" charset="0"/>
              </a:rPr>
              <a:t>evaluación de pesquerías</a:t>
            </a:r>
            <a:r>
              <a:rPr lang="es-ES" sz="4800" dirty="0">
                <a:solidFill>
                  <a:srgbClr val="002060"/>
                </a:solidFill>
                <a:latin typeface="Consolas" panose="020B0609020204030204" pitchFamily="49" charset="0"/>
              </a:rPr>
              <a:t> consiste en la obtención de </a:t>
            </a:r>
            <a:r>
              <a:rPr lang="es-ES" sz="4800" dirty="0">
                <a:solidFill>
                  <a:srgbClr val="FF0000"/>
                </a:solidFill>
                <a:latin typeface="Consolas" panose="020B0609020204030204" pitchFamily="49" charset="0"/>
              </a:rPr>
              <a:t>puntos de referencia</a:t>
            </a:r>
            <a:r>
              <a:rPr lang="es-ES" sz="4800" dirty="0">
                <a:solidFill>
                  <a:srgbClr val="002060"/>
                </a:solidFill>
                <a:latin typeface="Consolas" panose="020B0609020204030204" pitchFamily="49" charset="0"/>
              </a:rPr>
              <a:t> que nos dicen si estamos explotando estos recursos de manera </a:t>
            </a:r>
            <a:r>
              <a:rPr lang="es-ES" sz="4800" dirty="0">
                <a:solidFill>
                  <a:srgbClr val="FF0000"/>
                </a:solidFill>
                <a:latin typeface="Consolas" panose="020B0609020204030204" pitchFamily="49" charset="0"/>
              </a:rPr>
              <a:t>sostenible</a:t>
            </a:r>
            <a:r>
              <a:rPr lang="es-ES" sz="4800" dirty="0">
                <a:solidFill>
                  <a:srgbClr val="002060"/>
                </a:solidFill>
                <a:latin typeface="Consolas" panose="020B0609020204030204" pitchFamily="49" charset="0"/>
              </a:rPr>
              <a:t> en el tiempo o no. A partir de ese conocimiento se asesora sobre las </a:t>
            </a:r>
            <a:r>
              <a:rPr lang="es-ES" sz="4800" dirty="0">
                <a:solidFill>
                  <a:srgbClr val="FF0000"/>
                </a:solidFill>
                <a:latin typeface="Consolas" panose="020B0609020204030204" pitchFamily="49" charset="0"/>
              </a:rPr>
              <a:t>medidas de gestión</a:t>
            </a:r>
            <a:r>
              <a:rPr lang="es-ES" sz="4800" dirty="0">
                <a:solidFill>
                  <a:srgbClr val="002060"/>
                </a:solidFill>
                <a:latin typeface="Consolas" panose="020B0609020204030204" pitchFamily="49" charset="0"/>
              </a:rPr>
              <a:t> para garantizar la explotación sostenible de las poblaciones de peces a largo plazo. En cada etapa el uso de paquetes de R es esencial para:</a:t>
            </a:r>
          </a:p>
          <a:p>
            <a:pPr marL="457200" indent="-457200">
              <a:buAutoNum type="arabicPeriod"/>
            </a:pPr>
            <a:r>
              <a:rPr lang="es-ES" sz="4800" dirty="0">
                <a:solidFill>
                  <a:srgbClr val="002060"/>
                </a:solidFill>
                <a:latin typeface="Consolas" panose="020B0609020204030204" pitchFamily="49" charset="0"/>
              </a:rPr>
              <a:t>Bases de datos</a:t>
            </a:r>
          </a:p>
          <a:p>
            <a:pPr marL="457200" indent="-457200">
              <a:buAutoNum type="arabicPeriod"/>
            </a:pPr>
            <a:r>
              <a:rPr lang="es-ES" sz="4800" dirty="0">
                <a:solidFill>
                  <a:srgbClr val="002060"/>
                </a:solidFill>
                <a:latin typeface="Consolas" panose="020B0609020204030204" pitchFamily="49" charset="0"/>
              </a:rPr>
              <a:t>Estimación de parámetros biológicos</a:t>
            </a:r>
          </a:p>
          <a:p>
            <a:pPr marL="457200" indent="-457200">
              <a:buAutoNum type="arabicPeriod"/>
            </a:pPr>
            <a:r>
              <a:rPr lang="es-ES" sz="4800" dirty="0" err="1">
                <a:solidFill>
                  <a:srgbClr val="002060"/>
                </a:solidFill>
                <a:latin typeface="Consolas" panose="020B0609020204030204" pitchFamily="49" charset="0"/>
              </a:rPr>
              <a:t>Prepocesado</a:t>
            </a:r>
            <a:r>
              <a:rPr lang="es-ES" sz="4800" dirty="0">
                <a:solidFill>
                  <a:srgbClr val="002060"/>
                </a:solidFill>
                <a:latin typeface="Consolas" panose="020B0609020204030204" pitchFamily="49" charset="0"/>
              </a:rPr>
              <a:t> de inputs de modelos de evaluación</a:t>
            </a:r>
          </a:p>
          <a:p>
            <a:pPr marL="457200" indent="-457200">
              <a:buAutoNum type="arabicPeriod"/>
            </a:pPr>
            <a:r>
              <a:rPr lang="es-ES" sz="4800" dirty="0">
                <a:solidFill>
                  <a:srgbClr val="002060"/>
                </a:solidFill>
                <a:latin typeface="Consolas" panose="020B0609020204030204" pitchFamily="49" charset="0"/>
              </a:rPr>
              <a:t>Modelos de evaluación de stocks</a:t>
            </a:r>
          </a:p>
          <a:p>
            <a:pPr marL="457200" indent="-457200">
              <a:buAutoNum type="arabicPeriod"/>
            </a:pPr>
            <a:r>
              <a:rPr lang="es-ES" sz="4800" dirty="0">
                <a:solidFill>
                  <a:srgbClr val="002060"/>
                </a:solidFill>
                <a:latin typeface="Consolas" panose="020B0609020204030204" pitchFamily="49" charset="0"/>
              </a:rPr>
              <a:t>Modelos de simulación de estrategias de gestión</a:t>
            </a:r>
          </a:p>
          <a:p>
            <a:endParaRPr lang="es-ES" baseline="0" dirty="0"/>
          </a:p>
          <a:p>
            <a:r>
              <a:rPr lang="es-ES" baseline="0" dirty="0"/>
              <a:t>OBJETIVOS</a:t>
            </a:r>
          </a:p>
          <a:p>
            <a:r>
              <a:rPr lang="es-ES" sz="4800" dirty="0">
                <a:solidFill>
                  <a:srgbClr val="FF0000"/>
                </a:solidFill>
                <a:latin typeface="Consolas" panose="020B0609020204030204" pitchFamily="49" charset="0"/>
              </a:rPr>
              <a:t>Evaluación</a:t>
            </a:r>
            <a:r>
              <a:rPr lang="es-ES" sz="4800" dirty="0">
                <a:solidFill>
                  <a:srgbClr val="002060"/>
                </a:solidFill>
                <a:latin typeface="Consolas" panose="020B0609020204030204" pitchFamily="49" charset="0"/>
              </a:rPr>
              <a:t>: Conocer la probabilidad de que cada año lo que se pesca sea igual, mayor o menor que lo que ha variado la biomasa de las poblaciones de peces</a:t>
            </a:r>
          </a:p>
          <a:p>
            <a:r>
              <a:rPr lang="es-ES" sz="4800" dirty="0">
                <a:solidFill>
                  <a:srgbClr val="FF0000"/>
                </a:solidFill>
                <a:latin typeface="Consolas" panose="020B0609020204030204" pitchFamily="49" charset="0"/>
              </a:rPr>
              <a:t>Gestión</a:t>
            </a:r>
            <a:r>
              <a:rPr lang="es-ES" sz="4800" dirty="0">
                <a:solidFill>
                  <a:srgbClr val="002060"/>
                </a:solidFill>
                <a:latin typeface="Consolas" panose="020B0609020204030204" pitchFamily="49" charset="0"/>
              </a:rPr>
              <a:t>: Medidas para explotar los recursos pesqueros de forma sostenible a largo plazo</a:t>
            </a:r>
          </a:p>
          <a:p>
            <a:endParaRPr lang="es-ES" sz="4800" dirty="0">
              <a:solidFill>
                <a:srgbClr val="002060"/>
              </a:solidFill>
              <a:latin typeface="Consolas" panose="020B0609020204030204" pitchFamily="49" charset="0"/>
            </a:endParaRPr>
          </a:p>
          <a:p>
            <a:r>
              <a:rPr lang="es-ES" sz="4800" dirty="0">
                <a:solidFill>
                  <a:srgbClr val="002060"/>
                </a:solidFill>
                <a:latin typeface="Consolas" panose="020B0609020204030204" pitchFamily="49" charset="0"/>
              </a:rPr>
              <a:t>HIPÓTESIS</a:t>
            </a:r>
          </a:p>
          <a:p>
            <a:r>
              <a:rPr lang="es-ES" sz="4800" dirty="0">
                <a:solidFill>
                  <a:srgbClr val="002060"/>
                </a:solidFill>
                <a:latin typeface="Consolas" panose="020B0609020204030204" pitchFamily="49" charset="0"/>
              </a:rPr>
              <a:t>Los modelos</a:t>
            </a:r>
            <a:r>
              <a:rPr lang="es-ES" sz="5400" dirty="0">
                <a:solidFill>
                  <a:srgbClr val="002060"/>
                </a:solidFill>
                <a:latin typeface="Consolas" panose="020B0609020204030204" pitchFamily="49" charset="0"/>
              </a:rPr>
              <a:t> </a:t>
            </a:r>
            <a:r>
              <a:rPr lang="es-ES" sz="4800" dirty="0">
                <a:solidFill>
                  <a:srgbClr val="002060"/>
                </a:solidFill>
                <a:latin typeface="Consolas" panose="020B0609020204030204" pitchFamily="49" charset="0"/>
              </a:rPr>
              <a:t>representan</a:t>
            </a:r>
            <a:r>
              <a:rPr lang="es-ES" sz="5400" dirty="0">
                <a:solidFill>
                  <a:srgbClr val="002060"/>
                </a:solidFill>
                <a:latin typeface="Consolas" panose="020B0609020204030204" pitchFamily="49" charset="0"/>
              </a:rPr>
              <a:t> </a:t>
            </a:r>
            <a:r>
              <a:rPr lang="es-ES" sz="4800" dirty="0">
                <a:solidFill>
                  <a:srgbClr val="002060"/>
                </a:solidFill>
                <a:latin typeface="Consolas" panose="020B0609020204030204" pitchFamily="49" charset="0"/>
              </a:rPr>
              <a:t>adecuadamente</a:t>
            </a:r>
          </a:p>
          <a:p>
            <a:r>
              <a:rPr lang="es-ES" sz="4800" dirty="0">
                <a:solidFill>
                  <a:srgbClr val="002060"/>
                </a:solidFill>
                <a:latin typeface="Consolas" panose="020B0609020204030204" pitchFamily="49" charset="0"/>
              </a:rPr>
              <a:t>el sistema pesquero y su incertidumbre.</a:t>
            </a:r>
            <a:r>
              <a:rPr lang="es-ES" sz="4800" baseline="0" dirty="0">
                <a:solidFill>
                  <a:srgbClr val="002060"/>
                </a:solidFill>
                <a:latin typeface="Consolas" panose="020B0609020204030204" pitchFamily="49" charset="0"/>
              </a:rPr>
              <a:t> Un sistema pesquero está formado por un conjunto de partes interrelacionadas entre sí y que al tratarse del medio marino e involucrar a múltiples factores humanos, sociales y políticos, se encuentra bajo un entorno de incertidumbre que condiciona los resultados de la evaluación y gestión de las pesquerías. Los modelos tratan de representar las diferentes partes de un sistema pesquero (dinámica de la población de peces, dinámica de las flotas, evaluación, implementación de medidas de gestión) teniendo en cuenta la incertidumbre que afecta a cada una de ellas. </a:t>
            </a:r>
            <a:endParaRPr lang="es-ES" sz="4800" dirty="0">
              <a:solidFill>
                <a:srgbClr val="002060"/>
              </a:solidFill>
              <a:latin typeface="Consolas" panose="020B0609020204030204" pitchFamily="49" charset="0"/>
            </a:endParaRPr>
          </a:p>
          <a:p>
            <a:r>
              <a:rPr lang="es-ES" baseline="0" dirty="0"/>
              <a:t>Bajo la hipótesis de que l</a:t>
            </a:r>
            <a:r>
              <a:rPr lang="es-ES" sz="4400" dirty="0">
                <a:solidFill>
                  <a:srgbClr val="002060"/>
                </a:solidFill>
                <a:latin typeface="Consolas" panose="020B0609020204030204" pitchFamily="49" charset="0"/>
              </a:rPr>
              <a:t>os modelos</a:t>
            </a:r>
            <a:r>
              <a:rPr lang="es-ES" sz="4800" dirty="0">
                <a:solidFill>
                  <a:srgbClr val="002060"/>
                </a:solidFill>
                <a:latin typeface="Consolas" panose="020B0609020204030204" pitchFamily="49" charset="0"/>
              </a:rPr>
              <a:t> </a:t>
            </a:r>
            <a:r>
              <a:rPr lang="es-ES" sz="4400" dirty="0">
                <a:solidFill>
                  <a:srgbClr val="002060"/>
                </a:solidFill>
                <a:latin typeface="Consolas" panose="020B0609020204030204" pitchFamily="49" charset="0"/>
              </a:rPr>
              <a:t>representan</a:t>
            </a:r>
            <a:r>
              <a:rPr lang="es-ES" sz="4800" dirty="0">
                <a:solidFill>
                  <a:srgbClr val="002060"/>
                </a:solidFill>
                <a:latin typeface="Consolas" panose="020B0609020204030204" pitchFamily="49" charset="0"/>
              </a:rPr>
              <a:t> </a:t>
            </a:r>
            <a:r>
              <a:rPr lang="es-ES" sz="4400" dirty="0">
                <a:solidFill>
                  <a:srgbClr val="002060"/>
                </a:solidFill>
                <a:latin typeface="Consolas" panose="020B0609020204030204" pitchFamily="49" charset="0"/>
              </a:rPr>
              <a:t>adecuadamente el sistema pesquero y su incertidumbre,</a:t>
            </a:r>
            <a:r>
              <a:rPr lang="es-ES" sz="4400" baseline="0" dirty="0">
                <a:solidFill>
                  <a:srgbClr val="002060"/>
                </a:solidFill>
                <a:latin typeface="Consolas" panose="020B0609020204030204" pitchFamily="49" charset="0"/>
              </a:rPr>
              <a:t> se han desarrollado múltiples paquetes de R que permiten modelar las partes del sistema pesquero.</a:t>
            </a:r>
            <a:endParaRPr lang="es-ES" baseline="0" dirty="0"/>
          </a:p>
          <a:p>
            <a:endParaRPr lang="es-ES" baseline="0" dirty="0"/>
          </a:p>
          <a:p>
            <a:r>
              <a:rPr lang="es-ES" baseline="0" dirty="0"/>
              <a:t>Conclusiones</a:t>
            </a:r>
          </a:p>
          <a:p>
            <a:r>
              <a:rPr lang="es-ES" baseline="0" dirty="0"/>
              <a:t>Los avances en métodos de evaluación y gestión de stocks requieren un enfoque multidisciplinar: algoritmos matemáticos y estadísticos de estimación, ciencia computacional para una programación eficiente, modelado de las hipótesis sobre la dinámica de las poblaciones, funciones de verosimilitud y el conocimientos de la gestión de pesquerías. </a:t>
            </a:r>
          </a:p>
          <a:p>
            <a:r>
              <a:rPr lang="es-ES" baseline="0" dirty="0"/>
              <a:t>El cambio climático es un aspecto muy relevante que afecta a la evaluación y gestión de pesquerías ya que está generando cambios en  la distribución espacial de las especies y por tanto debe estar integrado en la evaluación y la gestión.</a:t>
            </a:r>
          </a:p>
          <a:p>
            <a:r>
              <a:rPr lang="es-ES" baseline="0" dirty="0"/>
              <a:t>Las herramientas de simulación son la clave para proporcionar el mejor asesoramiento científico para la gestión de las pesquerías. </a:t>
            </a:r>
          </a:p>
          <a:p>
            <a:r>
              <a:rPr lang="es-ES" baseline="0" dirty="0"/>
              <a:t>Los avances tecnológicos están proporcionando nuevos datos espaciales tanto oceanográficos y ambientales como pesqueros lo que requiere seguir investigando en el desarrollo de modelos que integren esta información.</a:t>
            </a:r>
          </a:p>
          <a:p>
            <a:r>
              <a:rPr lang="es-ES" baseline="0" dirty="0"/>
              <a:t>Los avances en desarrollo de paquetes de R específicos para evaluación y gestión de pesquerías en ocasiones tienen poca difusión entre los propios científicos pesqueros. Mejorar la documentación de los paquetes ayuda a dar difusión y uso entre la comunidad científica. La coordinación/comunicación entre los diferentes núcleos científicos de desarrollo de paquetes de R para evaluación y gestión de stocks proporcionaría una mejor visión global de las necesidades.</a:t>
            </a:r>
          </a:p>
          <a:p>
            <a:r>
              <a:rPr lang="es-ES" baseline="0" dirty="0"/>
              <a:t>El factor limitante más importante a lo hora de mejorar la evaluación y gestión de pesquerías es la falta de datos. La IA al servicio de la gestión puede mejorar  la gestión de las pesquerías con muy poca información.</a:t>
            </a:r>
          </a:p>
          <a:p>
            <a:endParaRPr lang="es-ES" baseline="0" dirty="0"/>
          </a:p>
          <a:p>
            <a:endParaRPr lang="es-ES" baseline="0" dirty="0"/>
          </a:p>
          <a:p>
            <a:r>
              <a:rPr lang="es-ES" baseline="0" dirty="0" err="1"/>
              <a:t>Bibliography</a:t>
            </a:r>
            <a:endParaRPr lang="es-ES" baseline="0" dirty="0"/>
          </a:p>
          <a:p>
            <a:endParaRPr lang="en-US" sz="4603" kern="1200" dirty="0">
              <a:solidFill>
                <a:schemeClr val="tx1"/>
              </a:solidFill>
              <a:effectLst/>
              <a:latin typeface="+mn-lt"/>
              <a:ea typeface="+mn-ea"/>
              <a:cs typeface="+mn-cs"/>
            </a:endParaRPr>
          </a:p>
          <a:p>
            <a:r>
              <a:rPr lang="en-US" sz="4603" kern="1200" dirty="0">
                <a:solidFill>
                  <a:schemeClr val="tx1"/>
                </a:solidFill>
                <a:effectLst/>
                <a:latin typeface="+mn-lt"/>
                <a:ea typeface="+mn-ea"/>
                <a:cs typeface="+mn-cs"/>
              </a:rPr>
              <a:t>Climate change scenarios in fisheries and aquatic conservation research</a:t>
            </a:r>
          </a:p>
          <a:p>
            <a:r>
              <a:rPr lang="en-US" sz="4603" kern="1200" dirty="0" err="1">
                <a:solidFill>
                  <a:schemeClr val="tx1"/>
                </a:solidFill>
                <a:effectLst/>
                <a:latin typeface="+mn-lt"/>
                <a:ea typeface="+mn-ea"/>
                <a:cs typeface="+mn-cs"/>
              </a:rPr>
              <a:t>M.G.Burgess</a:t>
            </a:r>
            <a:r>
              <a:rPr lang="en-US" sz="4603" kern="1200" dirty="0">
                <a:solidFill>
                  <a:schemeClr val="tx1"/>
                </a:solidFill>
                <a:effectLst/>
                <a:latin typeface="+mn-lt"/>
                <a:ea typeface="+mn-ea"/>
                <a:cs typeface="+mn-cs"/>
              </a:rPr>
              <a:t>,</a:t>
            </a:r>
            <a:r>
              <a:rPr lang="en-US" sz="4603" kern="1200" baseline="0" dirty="0">
                <a:solidFill>
                  <a:schemeClr val="tx1"/>
                </a:solidFill>
                <a:effectLst/>
                <a:latin typeface="+mn-lt"/>
                <a:ea typeface="+mn-ea"/>
                <a:cs typeface="+mn-cs"/>
              </a:rPr>
              <a:t> </a:t>
            </a:r>
            <a:r>
              <a:rPr lang="en-US" sz="4603" kern="1200" dirty="0" err="1">
                <a:solidFill>
                  <a:schemeClr val="tx1"/>
                </a:solidFill>
                <a:effectLst/>
                <a:latin typeface="+mn-lt"/>
                <a:ea typeface="+mn-ea"/>
                <a:cs typeface="+mn-cs"/>
              </a:rPr>
              <a:t>S.L.Becker</a:t>
            </a:r>
            <a:r>
              <a:rPr lang="en-US" sz="4603" kern="1200" dirty="0">
                <a:solidFill>
                  <a:schemeClr val="tx1"/>
                </a:solidFill>
                <a:effectLst/>
                <a:latin typeface="+mn-lt"/>
                <a:ea typeface="+mn-ea"/>
                <a:cs typeface="+mn-cs"/>
              </a:rPr>
              <a:t>, </a:t>
            </a:r>
            <a:r>
              <a:rPr lang="en-US" sz="4603" kern="1200" dirty="0" err="1">
                <a:solidFill>
                  <a:schemeClr val="tx1"/>
                </a:solidFill>
                <a:effectLst/>
                <a:latin typeface="+mn-lt"/>
                <a:ea typeface="+mn-ea"/>
                <a:cs typeface="+mn-cs"/>
              </a:rPr>
              <a:t>R.E.Langendorf</a:t>
            </a:r>
            <a:r>
              <a:rPr lang="en-US" sz="4603" kern="1200" dirty="0">
                <a:solidFill>
                  <a:schemeClr val="tx1"/>
                </a:solidFill>
                <a:effectLst/>
                <a:latin typeface="+mn-lt"/>
                <a:ea typeface="+mn-ea"/>
                <a:cs typeface="+mn-cs"/>
              </a:rPr>
              <a:t>,</a:t>
            </a:r>
            <a:r>
              <a:rPr lang="en-US" sz="4603" kern="1200" baseline="0" dirty="0">
                <a:solidFill>
                  <a:schemeClr val="tx1"/>
                </a:solidFill>
                <a:effectLst/>
                <a:latin typeface="+mn-lt"/>
                <a:ea typeface="+mn-ea"/>
                <a:cs typeface="+mn-cs"/>
              </a:rPr>
              <a:t> </a:t>
            </a:r>
            <a:r>
              <a:rPr lang="en-US" sz="4603" kern="1200" dirty="0" err="1">
                <a:solidFill>
                  <a:schemeClr val="tx1"/>
                </a:solidFill>
                <a:effectLst/>
                <a:latin typeface="+mn-lt"/>
                <a:ea typeface="+mn-ea"/>
                <a:cs typeface="+mn-cs"/>
              </a:rPr>
              <a:t>A.Fredston</a:t>
            </a:r>
            <a:r>
              <a:rPr lang="en-US" sz="4603" kern="1200" baseline="0" dirty="0">
                <a:solidFill>
                  <a:schemeClr val="tx1"/>
                </a:solidFill>
                <a:effectLst/>
                <a:latin typeface="+mn-lt"/>
                <a:ea typeface="+mn-ea"/>
                <a:cs typeface="+mn-cs"/>
              </a:rPr>
              <a:t> </a:t>
            </a:r>
            <a:r>
              <a:rPr lang="en-US" sz="4603" kern="1200" dirty="0">
                <a:solidFill>
                  <a:schemeClr val="tx1"/>
                </a:solidFill>
                <a:effectLst/>
                <a:latin typeface="+mn-lt"/>
                <a:ea typeface="+mn-ea"/>
                <a:cs typeface="+mn-cs"/>
              </a:rPr>
              <a:t>and </a:t>
            </a:r>
            <a:r>
              <a:rPr lang="en-US" sz="4603" kern="1200" dirty="0" err="1">
                <a:solidFill>
                  <a:schemeClr val="tx1"/>
                </a:solidFill>
                <a:effectLst/>
                <a:latin typeface="+mn-lt"/>
                <a:ea typeface="+mn-ea"/>
                <a:cs typeface="+mn-cs"/>
              </a:rPr>
              <a:t>C.M.Brooks</a:t>
            </a:r>
            <a:r>
              <a:rPr lang="en-US" sz="4603" kern="1200" dirty="0">
                <a:solidFill>
                  <a:schemeClr val="tx1"/>
                </a:solidFill>
                <a:effectLst/>
                <a:latin typeface="+mn-lt"/>
                <a:ea typeface="+mn-ea"/>
                <a:cs typeface="+mn-cs"/>
              </a:rPr>
              <a:t>. ICES Journal of Marine Science, 2023, 80,1163–1178. DOI:10.1093/</a:t>
            </a:r>
            <a:r>
              <a:rPr lang="en-US" sz="4603" kern="1200" dirty="0" err="1">
                <a:solidFill>
                  <a:schemeClr val="tx1"/>
                </a:solidFill>
                <a:effectLst/>
                <a:latin typeface="+mn-lt"/>
                <a:ea typeface="+mn-ea"/>
                <a:cs typeface="+mn-cs"/>
              </a:rPr>
              <a:t>icesjms</a:t>
            </a:r>
            <a:r>
              <a:rPr lang="en-US" sz="4603" kern="1200" dirty="0">
                <a:solidFill>
                  <a:schemeClr val="tx1"/>
                </a:solidFill>
                <a:effectLst/>
                <a:latin typeface="+mn-lt"/>
                <a:ea typeface="+mn-ea"/>
                <a:cs typeface="+mn-cs"/>
              </a:rPr>
              <a:t>/fsad045</a:t>
            </a:r>
          </a:p>
          <a:p>
            <a:endParaRPr lang="en-US" sz="4603" kern="1200" dirty="0">
              <a:solidFill>
                <a:schemeClr val="tx1"/>
              </a:solidFill>
              <a:effectLst/>
              <a:latin typeface="+mn-lt"/>
              <a:ea typeface="+mn-ea"/>
              <a:cs typeface="+mn-cs"/>
            </a:endParaRPr>
          </a:p>
          <a:p>
            <a:r>
              <a:rPr lang="es-ES" dirty="0"/>
              <a:t>Mark N. </a:t>
            </a:r>
            <a:r>
              <a:rPr lang="es-ES" dirty="0" err="1"/>
              <a:t>Maunder</a:t>
            </a:r>
            <a:r>
              <a:rPr lang="es-ES" dirty="0"/>
              <a:t>, Paul R. </a:t>
            </a:r>
            <a:r>
              <a:rPr lang="es-ES" dirty="0" err="1"/>
              <a:t>Crone</a:t>
            </a:r>
            <a:r>
              <a:rPr lang="es-ES" dirty="0"/>
              <a:t>, Brice X. </a:t>
            </a:r>
            <a:r>
              <a:rPr lang="es-ES" dirty="0" err="1"/>
              <a:t>Semmens</a:t>
            </a:r>
            <a:r>
              <a:rPr lang="es-ES" dirty="0"/>
              <a:t>, Juan L. Valero, Lynn </a:t>
            </a:r>
            <a:r>
              <a:rPr lang="es-ES" dirty="0" err="1"/>
              <a:t>Waterhouse</a:t>
            </a:r>
            <a:r>
              <a:rPr lang="es-ES" dirty="0"/>
              <a:t>, Richard D. </a:t>
            </a:r>
            <a:r>
              <a:rPr lang="es-ES" dirty="0" err="1"/>
              <a:t>Methot</a:t>
            </a:r>
            <a:r>
              <a:rPr lang="es-ES" dirty="0"/>
              <a:t>, André E. </a:t>
            </a:r>
            <a:r>
              <a:rPr lang="es-ES" dirty="0" err="1"/>
              <a:t>Punt</a:t>
            </a:r>
            <a:r>
              <a:rPr lang="es-ES" dirty="0"/>
              <a:t>,</a:t>
            </a:r>
          </a:p>
          <a:p>
            <a:r>
              <a:rPr lang="es-ES" dirty="0" err="1"/>
              <a:t>The</a:t>
            </a:r>
            <a:r>
              <a:rPr lang="es-ES" dirty="0"/>
              <a:t> Center </a:t>
            </a:r>
            <a:r>
              <a:rPr lang="es-ES" dirty="0" err="1"/>
              <a:t>for</a:t>
            </a:r>
            <a:r>
              <a:rPr lang="es-ES" dirty="0"/>
              <a:t> </a:t>
            </a:r>
            <a:r>
              <a:rPr lang="es-ES" dirty="0" err="1"/>
              <a:t>the</a:t>
            </a:r>
            <a:r>
              <a:rPr lang="es-ES" dirty="0"/>
              <a:t> </a:t>
            </a:r>
            <a:r>
              <a:rPr lang="es-ES" dirty="0" err="1"/>
              <a:t>Advancement</a:t>
            </a:r>
            <a:r>
              <a:rPr lang="es-ES" dirty="0"/>
              <a:t> of </a:t>
            </a:r>
            <a:r>
              <a:rPr lang="es-ES" dirty="0" err="1"/>
              <a:t>Population</a:t>
            </a:r>
            <a:r>
              <a:rPr lang="es-ES" dirty="0"/>
              <a:t> </a:t>
            </a:r>
            <a:r>
              <a:rPr lang="es-ES" dirty="0" err="1"/>
              <a:t>Assessment</a:t>
            </a:r>
            <a:r>
              <a:rPr lang="es-ES" dirty="0"/>
              <a:t> </a:t>
            </a:r>
            <a:r>
              <a:rPr lang="es-ES" dirty="0" err="1"/>
              <a:t>Methodology</a:t>
            </a:r>
            <a:r>
              <a:rPr lang="es-ES" dirty="0"/>
              <a:t> (CAPAM): A </a:t>
            </a:r>
            <a:r>
              <a:rPr lang="es-ES" dirty="0" err="1"/>
              <a:t>perspective</a:t>
            </a:r>
            <a:r>
              <a:rPr lang="es-ES" dirty="0"/>
              <a:t> </a:t>
            </a:r>
            <a:r>
              <a:rPr lang="es-ES" dirty="0" err="1"/>
              <a:t>on</a:t>
            </a:r>
            <a:r>
              <a:rPr lang="es-ES" dirty="0"/>
              <a:t> </a:t>
            </a:r>
            <a:r>
              <a:rPr lang="es-ES" dirty="0" err="1"/>
              <a:t>the</a:t>
            </a:r>
            <a:r>
              <a:rPr lang="es-ES" dirty="0"/>
              <a:t> </a:t>
            </a:r>
            <a:r>
              <a:rPr lang="es-ES" dirty="0" err="1"/>
              <a:t>first</a:t>
            </a:r>
            <a:r>
              <a:rPr lang="es-ES" dirty="0"/>
              <a:t> 10 </a:t>
            </a:r>
            <a:r>
              <a:rPr lang="es-ES" dirty="0" err="1"/>
              <a:t>years</a:t>
            </a:r>
            <a:r>
              <a:rPr lang="es-ES" dirty="0"/>
              <a:t>,</a:t>
            </a:r>
          </a:p>
          <a:p>
            <a:r>
              <a:rPr lang="es-ES" dirty="0" err="1"/>
              <a:t>Fisheries</a:t>
            </a:r>
            <a:r>
              <a:rPr lang="es-ES" dirty="0"/>
              <a:t> </a:t>
            </a:r>
            <a:r>
              <a:rPr lang="es-ES" dirty="0" err="1"/>
              <a:t>Research</a:t>
            </a:r>
            <a:r>
              <a:rPr lang="es-ES" dirty="0"/>
              <a:t>, </a:t>
            </a:r>
            <a:r>
              <a:rPr lang="es-ES" dirty="0" err="1"/>
              <a:t>Volume</a:t>
            </a:r>
            <a:r>
              <a:rPr lang="es-ES" dirty="0"/>
              <a:t> 281, 2025, 107162, ISSN 0165-7836,</a:t>
            </a:r>
          </a:p>
          <a:p>
            <a:r>
              <a:rPr lang="es-ES" dirty="0"/>
              <a:t>https://doi.org/10.1016/j.fishres.2024.107162.</a:t>
            </a:r>
          </a:p>
          <a:p>
            <a:endParaRPr lang="en-US" sz="4603" kern="1200" dirty="0">
              <a:solidFill>
                <a:schemeClr val="tx1"/>
              </a:solidFill>
              <a:effectLst/>
              <a:latin typeface="+mn-lt"/>
              <a:ea typeface="+mn-ea"/>
              <a:cs typeface="+mn-cs"/>
            </a:endParaRPr>
          </a:p>
          <a:p>
            <a:endParaRPr lang="es-ES" dirty="0"/>
          </a:p>
          <a:p>
            <a:endParaRPr lang="es-ES" dirty="0"/>
          </a:p>
        </p:txBody>
      </p:sp>
      <p:sp>
        <p:nvSpPr>
          <p:cNvPr id="4" name="Marcador de número de diapositiva 3"/>
          <p:cNvSpPr>
            <a:spLocks noGrp="1"/>
          </p:cNvSpPr>
          <p:nvPr>
            <p:ph type="sldNum" sz="quarter" idx="10"/>
          </p:nvPr>
        </p:nvSpPr>
        <p:spPr/>
        <p:txBody>
          <a:bodyPr/>
          <a:lstStyle/>
          <a:p>
            <a:fld id="{C2F47D8A-C689-4980-97A3-13EDCF7A5228}" type="slidenum">
              <a:rPr lang="es-ES" smtClean="0"/>
              <a:pPr/>
              <a:t>1</a:t>
            </a:fld>
            <a:endParaRPr lang="es-ES"/>
          </a:p>
        </p:txBody>
      </p:sp>
    </p:spTree>
    <p:extLst>
      <p:ext uri="{BB962C8B-B14F-4D97-AF65-F5344CB8AC3E}">
        <p14:creationId xmlns:p14="http://schemas.microsoft.com/office/powerpoint/2010/main" val="3407477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3864952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1496781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3348869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3417921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s-ES"/>
              <a:t>Editar el estilo de texto del patrón</a:t>
            </a:r>
          </a:p>
        </p:txBody>
      </p:sp>
      <p:sp>
        <p:nvSpPr>
          <p:cNvPr id="4" name="Content Placeholder 3"/>
          <p:cNvSpPr>
            <a:spLocks noGrp="1"/>
          </p:cNvSpPr>
          <p:nvPr>
            <p:ph sz="half" idx="2"/>
          </p:nvPr>
        </p:nvSpPr>
        <p:spPr>
          <a:xfrm>
            <a:off x="2085368" y="15635264"/>
            <a:ext cx="12807832" cy="2299711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s-ES"/>
              <a:t>Editar el estilo de texto del patrón</a:t>
            </a:r>
          </a:p>
        </p:txBody>
      </p:sp>
      <p:sp>
        <p:nvSpPr>
          <p:cNvPr id="6" name="Content Placeholder 5"/>
          <p:cNvSpPr>
            <a:spLocks noGrp="1"/>
          </p:cNvSpPr>
          <p:nvPr>
            <p:ph sz="quarter" idx="4"/>
          </p:nvPr>
        </p:nvSpPr>
        <p:spPr>
          <a:xfrm>
            <a:off x="15326828" y="15635264"/>
            <a:ext cx="12870909" cy="2299711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2075126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2065165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2248564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s-ES"/>
              <a:t>Haga clic para modificar el estilo de título del patrón</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s-ES"/>
              <a:t>Editar el estilo de texto del patrón</a:t>
            </a:r>
          </a:p>
        </p:txBody>
      </p:sp>
      <p:sp>
        <p:nvSpPr>
          <p:cNvPr id="5" name="Date Placeholder 4"/>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835105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s-ES"/>
              <a:t>Editar el estilo de texto del patrón</a:t>
            </a:r>
          </a:p>
        </p:txBody>
      </p:sp>
      <p:sp>
        <p:nvSpPr>
          <p:cNvPr id="5" name="Date Placeholder 4"/>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1611951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255864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918EE6B-F328-49F4-9711-98769A60192A}" type="datetimeFigureOut">
              <a:rPr lang="es-ES" smtClean="0"/>
              <a:pPr/>
              <a:t>04/11/2025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47728301-F861-41D2-A3B3-53950B9F560A}" type="slidenum">
              <a:rPr lang="es-ES" smtClean="0"/>
              <a:pPr/>
              <a:t>‹Nº›</a:t>
            </a:fld>
            <a:endParaRPr lang="es-ES"/>
          </a:p>
        </p:txBody>
      </p:sp>
    </p:spTree>
    <p:extLst>
      <p:ext uri="{BB962C8B-B14F-4D97-AF65-F5344CB8AC3E}">
        <p14:creationId xmlns:p14="http://schemas.microsoft.com/office/powerpoint/2010/main" val="2595628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6918EE6B-F328-49F4-9711-98769A60192A}" type="datetimeFigureOut">
              <a:rPr lang="es-ES" smtClean="0"/>
              <a:pPr/>
              <a:t>04/11/2025</a:t>
            </a:fld>
            <a:endParaRPr lang="es-ES"/>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47728301-F861-41D2-A3B3-53950B9F560A}" type="slidenum">
              <a:rPr lang="es-ES" smtClean="0"/>
              <a:pPr/>
              <a:t>‹Nº›</a:t>
            </a:fld>
            <a:endParaRPr lang="es-ES"/>
          </a:p>
        </p:txBody>
      </p:sp>
    </p:spTree>
    <p:extLst>
      <p:ext uri="{BB962C8B-B14F-4D97-AF65-F5344CB8AC3E}">
        <p14:creationId xmlns:p14="http://schemas.microsoft.com/office/powerpoint/2010/main" val="2111012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tiff"/><Relationship Id="rId13" Type="http://schemas.openxmlformats.org/officeDocument/2006/relationships/image" Target="../media/image11.png"/><Relationship Id="rId3" Type="http://schemas.openxmlformats.org/officeDocument/2006/relationships/image" Target="../media/image1.jpg"/><Relationship Id="rId7" Type="http://schemas.openxmlformats.org/officeDocument/2006/relationships/image" Target="../media/image5.tiff"/><Relationship Id="rId12" Type="http://schemas.openxmlformats.org/officeDocument/2006/relationships/image" Target="../media/image10.jp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tiff"/><Relationship Id="rId4" Type="http://schemas.openxmlformats.org/officeDocument/2006/relationships/image" Target="../media/image2.png"/><Relationship Id="rId9" Type="http://schemas.openxmlformats.org/officeDocument/2006/relationships/image" Target="../media/image7.tiff"/><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adroTexto 89"/>
          <p:cNvSpPr txBox="1"/>
          <p:nvPr/>
        </p:nvSpPr>
        <p:spPr>
          <a:xfrm>
            <a:off x="288251" y="26746701"/>
            <a:ext cx="12215637" cy="8279190"/>
          </a:xfrm>
          <a:prstGeom prst="rect">
            <a:avLst/>
          </a:prstGeom>
          <a:noFill/>
        </p:spPr>
        <p:txBody>
          <a:bodyPr wrap="square" rtlCol="0">
            <a:spAutoFit/>
          </a:bodyPr>
          <a:lstStyle/>
          <a:p>
            <a:pPr algn="just"/>
            <a:r>
              <a:rPr lang="en-US" sz="2800" dirty="0">
                <a:solidFill>
                  <a:srgbClr val="002060"/>
                </a:solidFill>
              </a:rPr>
              <a:t>•</a:t>
            </a:r>
            <a:r>
              <a:rPr lang="en-US" sz="2800" dirty="0">
                <a:solidFill>
                  <a:srgbClr val="FF0000"/>
                </a:solidFill>
              </a:rPr>
              <a:t>Overall underrepresentation</a:t>
            </a:r>
            <a:r>
              <a:rPr lang="en-US" sz="2800" dirty="0">
                <a:solidFill>
                  <a:srgbClr val="002060"/>
                </a:solidFill>
              </a:rPr>
              <a:t>: Women remain underrepresented across all years.</a:t>
            </a:r>
          </a:p>
          <a:p>
            <a:pPr algn="just"/>
            <a:r>
              <a:rPr lang="en-US" sz="2800" dirty="0">
                <a:solidFill>
                  <a:srgbClr val="002060"/>
                </a:solidFill>
              </a:rPr>
              <a:t>•Country-level trends: Mild weakening of male dominance but still a clear overall imbalance.</a:t>
            </a:r>
          </a:p>
          <a:p>
            <a:pPr algn="just"/>
            <a:r>
              <a:rPr lang="en-US" sz="2800" dirty="0">
                <a:solidFill>
                  <a:srgbClr val="002060"/>
                </a:solidFill>
              </a:rPr>
              <a:t>•Convergence participation: only </a:t>
            </a:r>
            <a:r>
              <a:rPr lang="en-US" sz="2800" dirty="0">
                <a:solidFill>
                  <a:srgbClr val="FF0000"/>
                </a:solidFill>
              </a:rPr>
              <a:t>Spain</a:t>
            </a:r>
            <a:r>
              <a:rPr lang="en-US" sz="2800" dirty="0">
                <a:solidFill>
                  <a:srgbClr val="002060"/>
                </a:solidFill>
              </a:rPr>
              <a:t> and </a:t>
            </a:r>
            <a:r>
              <a:rPr lang="en-US" sz="2800" dirty="0">
                <a:solidFill>
                  <a:srgbClr val="FF0000"/>
                </a:solidFill>
              </a:rPr>
              <a:t>Portugal</a:t>
            </a:r>
            <a:r>
              <a:rPr lang="en-US" sz="2800" dirty="0">
                <a:solidFill>
                  <a:srgbClr val="002060"/>
                </a:solidFill>
              </a:rPr>
              <a:t>.</a:t>
            </a:r>
          </a:p>
          <a:p>
            <a:pPr algn="just"/>
            <a:r>
              <a:rPr lang="en-US" sz="2800" dirty="0">
                <a:solidFill>
                  <a:srgbClr val="002060"/>
                </a:solidFill>
              </a:rPr>
              <a:t>•Female trajectory: Decreased from 38.9% (2021) to 37.5% (2024), with the lowest values in 2022 (34.5%) and 2023 (34.2%).</a:t>
            </a:r>
          </a:p>
          <a:p>
            <a:pPr algn="just"/>
            <a:r>
              <a:rPr lang="en-US" sz="2800" dirty="0">
                <a:solidFill>
                  <a:srgbClr val="002060"/>
                </a:solidFill>
              </a:rPr>
              <a:t>•Male trajectory: Maintained a consistent majority (61–65%) with a peak in 2022 (65.5%) and modest normalization afterward.</a:t>
            </a:r>
          </a:p>
          <a:p>
            <a:pPr algn="just"/>
            <a:r>
              <a:rPr lang="en-US" sz="2800" dirty="0">
                <a:solidFill>
                  <a:srgbClr val="002060"/>
                </a:solidFill>
              </a:rPr>
              <a:t>•Leadership concern: The number of </a:t>
            </a:r>
            <a:r>
              <a:rPr lang="en-US" sz="2800" dirty="0">
                <a:solidFill>
                  <a:srgbClr val="FF0000"/>
                </a:solidFill>
              </a:rPr>
              <a:t>female chairs has dropped significantly</a:t>
            </a:r>
            <a:r>
              <a:rPr lang="en-US" sz="2800" dirty="0">
                <a:solidFill>
                  <a:srgbClr val="002060"/>
                </a:solidFill>
              </a:rPr>
              <a:t>, highlighting persistent inequality in decision-making positions.</a:t>
            </a:r>
          </a:p>
          <a:p>
            <a:pPr algn="just"/>
            <a:r>
              <a:rPr lang="en-US" sz="2800" dirty="0">
                <a:solidFill>
                  <a:srgbClr val="002060"/>
                </a:solidFill>
              </a:rPr>
              <a:t>•Slight improvements in some groups and countries, male remains the dominant gender across most working groups and leadership roles. The period 2021–2024 reflects a landscape of slow convergence but enduring male predominance, underlining the need to address gender equity in marine science and governance. Despite incremental progress in some countries and working groups, </a:t>
            </a:r>
            <a:r>
              <a:rPr lang="en-US" sz="2800" dirty="0">
                <a:solidFill>
                  <a:srgbClr val="FF0000"/>
                </a:solidFill>
              </a:rPr>
              <a:t>men continue to dominate both participation and leadership </a:t>
            </a:r>
            <a:r>
              <a:rPr lang="en-US" sz="2800" dirty="0">
                <a:solidFill>
                  <a:srgbClr val="002060"/>
                </a:solidFill>
              </a:rPr>
              <a:t>within ICES scientific groups.</a:t>
            </a:r>
          </a:p>
          <a:p>
            <a:pPr algn="just"/>
            <a:r>
              <a:rPr lang="en-US" sz="2800" dirty="0">
                <a:solidFill>
                  <a:srgbClr val="002060"/>
                </a:solidFill>
              </a:rPr>
              <a:t>The 2021–2024 period reflects slow convergence but enduring male predominance, emphasizing the need for institutional measures to promote gender equity in marine science and governance.</a:t>
            </a:r>
          </a:p>
        </p:txBody>
      </p:sp>
      <p:sp>
        <p:nvSpPr>
          <p:cNvPr id="8" name="Rectángulo 7"/>
          <p:cNvSpPr/>
          <p:nvPr/>
        </p:nvSpPr>
        <p:spPr>
          <a:xfrm>
            <a:off x="339814" y="5942877"/>
            <a:ext cx="6983267" cy="4524315"/>
          </a:xfrm>
          <a:prstGeom prst="rect">
            <a:avLst/>
          </a:prstGeom>
        </p:spPr>
        <p:txBody>
          <a:bodyPr wrap="square">
            <a:spAutoFit/>
          </a:bodyPr>
          <a:lstStyle/>
          <a:p>
            <a:pPr algn="just"/>
            <a:r>
              <a:rPr lang="en-US" sz="3200" dirty="0">
                <a:solidFill>
                  <a:srgbClr val="002060"/>
                </a:solidFill>
                <a:latin typeface="Consolas" panose="020B0609020204030204" pitchFamily="49" charset="0"/>
              </a:rPr>
              <a:t>Gender equity in science and international governance has gained attention, however disparities persist, particularly within fisheries science and decision-making bodies (</a:t>
            </a:r>
            <a:r>
              <a:rPr lang="en-US" sz="3200" dirty="0" err="1">
                <a:solidFill>
                  <a:srgbClr val="002060"/>
                </a:solidFill>
                <a:latin typeface="Consolas" panose="020B0609020204030204" pitchFamily="49" charset="0"/>
              </a:rPr>
              <a:t>Shellock</a:t>
            </a:r>
            <a:r>
              <a:rPr lang="en-US" sz="3200" dirty="0">
                <a:solidFill>
                  <a:srgbClr val="002060"/>
                </a:solidFill>
                <a:latin typeface="Consolas" panose="020B0609020204030204" pitchFamily="49" charset="0"/>
              </a:rPr>
              <a:t> et al., 2022; </a:t>
            </a:r>
            <a:r>
              <a:rPr lang="en-US" sz="3200" dirty="0" err="1">
                <a:solidFill>
                  <a:srgbClr val="002060"/>
                </a:solidFill>
                <a:latin typeface="Consolas" panose="020B0609020204030204" pitchFamily="49" charset="0"/>
              </a:rPr>
              <a:t>Giakoumi</a:t>
            </a:r>
            <a:r>
              <a:rPr lang="en-US" sz="3200" dirty="0">
                <a:solidFill>
                  <a:srgbClr val="002060"/>
                </a:solidFill>
                <a:latin typeface="Consolas" panose="020B0609020204030204" pitchFamily="49" charset="0"/>
              </a:rPr>
              <a:t>, et al., 2021).</a:t>
            </a:r>
          </a:p>
          <a:p>
            <a:pPr algn="just"/>
            <a:endParaRPr lang="es-ES" sz="3200" dirty="0">
              <a:solidFill>
                <a:srgbClr val="002060"/>
              </a:solidFill>
              <a:latin typeface="Consolas" panose="020B0609020204030204" pitchFamily="49" charset="0"/>
            </a:endParaRPr>
          </a:p>
        </p:txBody>
      </p:sp>
      <p:sp>
        <p:nvSpPr>
          <p:cNvPr id="45" name="Recortar rectángulo de esquina sencilla 2"/>
          <p:cNvSpPr/>
          <p:nvPr/>
        </p:nvSpPr>
        <p:spPr>
          <a:xfrm>
            <a:off x="818813" y="38251526"/>
            <a:ext cx="3889829" cy="720480"/>
          </a:xfrm>
          <a:prstGeom prst="snip1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4000" b="1" dirty="0">
                <a:solidFill>
                  <a:srgbClr val="FF0000"/>
                </a:solidFill>
                <a:latin typeface="Consolas" panose="020B0609020204030204" pitchFamily="49" charset="0"/>
              </a:rPr>
              <a:t>REFERENCES</a:t>
            </a:r>
            <a:endParaRPr lang="es-ES" b="1" dirty="0">
              <a:solidFill>
                <a:srgbClr val="FF0000"/>
              </a:solidFill>
              <a:latin typeface="Consolas" panose="020B0609020204030204" pitchFamily="49" charset="0"/>
            </a:endParaRPr>
          </a:p>
        </p:txBody>
      </p:sp>
      <p:sp>
        <p:nvSpPr>
          <p:cNvPr id="68" name="Recortar rectángulo de esquina sencilla 2"/>
          <p:cNvSpPr/>
          <p:nvPr/>
        </p:nvSpPr>
        <p:spPr>
          <a:xfrm>
            <a:off x="769255" y="13910448"/>
            <a:ext cx="8759245" cy="1071753"/>
          </a:xfrm>
          <a:prstGeom prst="snip1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4000" b="1" dirty="0">
                <a:solidFill>
                  <a:srgbClr val="FF0000"/>
                </a:solidFill>
                <a:latin typeface="Consolas" panose="020B0609020204030204" pitchFamily="49" charset="0"/>
              </a:rPr>
              <a:t>MATERIAL, METHODS AND RESULTS</a:t>
            </a:r>
            <a:endParaRPr lang="es-ES" b="1" dirty="0">
              <a:solidFill>
                <a:srgbClr val="FF0000"/>
              </a:solidFill>
              <a:latin typeface="Consolas" panose="020B0609020204030204" pitchFamily="49" charset="0"/>
            </a:endParaRPr>
          </a:p>
        </p:txBody>
      </p:sp>
      <p:sp>
        <p:nvSpPr>
          <p:cNvPr id="66" name="Recortar rectángulo de esquina sencilla 2"/>
          <p:cNvSpPr/>
          <p:nvPr/>
        </p:nvSpPr>
        <p:spPr>
          <a:xfrm>
            <a:off x="13268098" y="5183428"/>
            <a:ext cx="3889829" cy="767860"/>
          </a:xfrm>
          <a:prstGeom prst="snip1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4000" b="1" dirty="0">
                <a:solidFill>
                  <a:srgbClr val="FF0000"/>
                </a:solidFill>
                <a:latin typeface="Consolas" panose="020B0609020204030204" pitchFamily="49" charset="0"/>
              </a:rPr>
              <a:t>QUESTION</a:t>
            </a:r>
            <a:endParaRPr lang="es-ES" b="1" dirty="0">
              <a:solidFill>
                <a:srgbClr val="FF0000"/>
              </a:solidFill>
              <a:latin typeface="Consolas" panose="020B0609020204030204" pitchFamily="49" charset="0"/>
            </a:endParaRPr>
          </a:p>
        </p:txBody>
      </p:sp>
      <p:sp>
        <p:nvSpPr>
          <p:cNvPr id="3" name="Recortar rectángulo de esquina sencilla 2"/>
          <p:cNvSpPr/>
          <p:nvPr/>
        </p:nvSpPr>
        <p:spPr>
          <a:xfrm>
            <a:off x="2001195" y="5160592"/>
            <a:ext cx="3889829" cy="767860"/>
          </a:xfrm>
          <a:prstGeom prst="snip1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4000" b="1" dirty="0">
                <a:solidFill>
                  <a:srgbClr val="FF0000"/>
                </a:solidFill>
                <a:latin typeface="Consolas" panose="020B0609020204030204" pitchFamily="49" charset="0"/>
              </a:rPr>
              <a:t>INTRODUCTION</a:t>
            </a:r>
            <a:endParaRPr lang="es-ES" b="1" dirty="0">
              <a:solidFill>
                <a:srgbClr val="FF0000"/>
              </a:solidFill>
              <a:latin typeface="Consolas" panose="020B0609020204030204" pitchFamily="49" charset="0"/>
            </a:endParaRPr>
          </a:p>
        </p:txBody>
      </p:sp>
      <p:sp>
        <p:nvSpPr>
          <p:cNvPr id="42" name="CuadroTexto 41"/>
          <p:cNvSpPr txBox="1"/>
          <p:nvPr/>
        </p:nvSpPr>
        <p:spPr>
          <a:xfrm>
            <a:off x="0" y="41101107"/>
            <a:ext cx="30275213" cy="1815882"/>
          </a:xfrm>
          <a:prstGeom prst="rect">
            <a:avLst/>
          </a:prstGeom>
          <a:solidFill>
            <a:srgbClr val="002060"/>
          </a:solidFill>
          <a:ln>
            <a:noFill/>
          </a:ln>
        </p:spPr>
        <p:txBody>
          <a:bodyPr wrap="square" rtlCol="0">
            <a:spAutoFit/>
          </a:bodyPr>
          <a:lstStyle/>
          <a:p>
            <a:r>
              <a:rPr lang="es-ES" sz="4000" b="1" dirty="0">
                <a:solidFill>
                  <a:schemeClr val="bg1"/>
                </a:solidFill>
                <a:latin typeface="Consolas" panose="020B0609020204030204" pitchFamily="49" charset="0"/>
              </a:rPr>
              <a:t>   ACKNOWLEDGEMENTS</a:t>
            </a:r>
          </a:p>
          <a:p>
            <a:r>
              <a:rPr lang="en-US" sz="1800" dirty="0">
                <a:solidFill>
                  <a:schemeClr val="bg1"/>
                </a:solidFill>
                <a:latin typeface="Consolas" panose="020B0609020204030204" pitchFamily="49" charset="0"/>
              </a:rPr>
              <a:t>This work has been co-funded by the European Union through the European Maritime Fisheries and Aquaculture </a:t>
            </a:r>
          </a:p>
          <a:p>
            <a:r>
              <a:rPr lang="en-US" sz="1800" dirty="0">
                <a:solidFill>
                  <a:schemeClr val="bg1"/>
                </a:solidFill>
                <a:latin typeface="Consolas" panose="020B0609020204030204" pitchFamily="49" charset="0"/>
              </a:rPr>
              <a:t>Fund (EMFAF) within the National Program of collection, management and use of data in the fisheries sector </a:t>
            </a:r>
          </a:p>
          <a:p>
            <a:r>
              <a:rPr lang="en-US" sz="1800" dirty="0">
                <a:solidFill>
                  <a:schemeClr val="bg1"/>
                </a:solidFill>
                <a:latin typeface="Consolas" panose="020B0609020204030204" pitchFamily="49" charset="0"/>
              </a:rPr>
              <a:t>and support for scientific advice regarding the Common Fisheries Policy. This study is a contribution </a:t>
            </a:r>
          </a:p>
          <a:p>
            <a:r>
              <a:rPr lang="en-US" sz="1800" dirty="0">
                <a:solidFill>
                  <a:schemeClr val="bg1"/>
                </a:solidFill>
                <a:latin typeface="Consolas" panose="020B0609020204030204" pitchFamily="49" charset="0"/>
              </a:rPr>
              <a:t>of the research project Quantitative Assessment in R (QUAR) of IEO-CSIC</a:t>
            </a:r>
            <a:endParaRPr lang="en-GB" sz="2400" dirty="0">
              <a:solidFill>
                <a:schemeClr val="bg1"/>
              </a:solidFill>
              <a:latin typeface="Consolas" panose="020B0609020204030204" pitchFamily="49" charset="0"/>
            </a:endParaRPr>
          </a:p>
        </p:txBody>
      </p:sp>
      <p:sp>
        <p:nvSpPr>
          <p:cNvPr id="46" name="CuadroTexto 45"/>
          <p:cNvSpPr txBox="1"/>
          <p:nvPr/>
        </p:nvSpPr>
        <p:spPr>
          <a:xfrm>
            <a:off x="0" y="38978903"/>
            <a:ext cx="30275213" cy="1938992"/>
          </a:xfrm>
          <a:prstGeom prst="rect">
            <a:avLst/>
          </a:prstGeom>
          <a:noFill/>
          <a:ln w="50800">
            <a:noFill/>
          </a:ln>
        </p:spPr>
        <p:txBody>
          <a:bodyPr wrap="square" rtlCol="0">
            <a:spAutoFit/>
          </a:bodyPr>
          <a:lstStyle/>
          <a:p>
            <a:pPr marL="342900" indent="-342900">
              <a:buFont typeface="Wingdings" panose="05000000000000000000" pitchFamily="2" charset="2"/>
              <a:buChar char="§"/>
            </a:pPr>
            <a:r>
              <a:rPr lang="en-US" sz="2000" dirty="0">
                <a:solidFill>
                  <a:srgbClr val="002060"/>
                </a:solidFill>
                <a:latin typeface="Consolas" panose="020B0609020204030204" pitchFamily="49" charset="0"/>
              </a:rPr>
              <a:t>Fernandez-Machado, R., Amaral-Garcia, S., </a:t>
            </a:r>
            <a:r>
              <a:rPr lang="en-US" sz="2000" dirty="0" err="1">
                <a:solidFill>
                  <a:srgbClr val="002060"/>
                </a:solidFill>
                <a:latin typeface="Consolas" panose="020B0609020204030204" pitchFamily="49" charset="0"/>
              </a:rPr>
              <a:t>Duch</a:t>
            </a:r>
            <a:r>
              <a:rPr lang="en-US" sz="2000" dirty="0">
                <a:solidFill>
                  <a:srgbClr val="002060"/>
                </a:solidFill>
                <a:latin typeface="Consolas" panose="020B0609020204030204" pitchFamily="49" charset="0"/>
              </a:rPr>
              <a:t>-Brown, N. Workplace Adoption of In-House </a:t>
            </a:r>
            <a:r>
              <a:rPr lang="en-US" sz="2000" dirty="0" err="1">
                <a:solidFill>
                  <a:srgbClr val="002060"/>
                </a:solidFill>
                <a:latin typeface="Consolas" panose="020B0609020204030204" pitchFamily="49" charset="0"/>
              </a:rPr>
              <a:t>GenAI</a:t>
            </a:r>
            <a:r>
              <a:rPr lang="en-US" sz="2000" dirty="0">
                <a:solidFill>
                  <a:srgbClr val="002060"/>
                </a:solidFill>
                <a:latin typeface="Consolas" panose="020B0609020204030204" pitchFamily="49" charset="0"/>
              </a:rPr>
              <a:t> Tools: The Case of GPT@JRC at the European Commission, European Commission, Seville, 2025, JRC 143418.</a:t>
            </a:r>
          </a:p>
          <a:p>
            <a:pPr marL="342900" indent="-342900">
              <a:buFont typeface="Wingdings" panose="05000000000000000000" pitchFamily="2" charset="2"/>
              <a:buChar char="§"/>
            </a:pPr>
            <a:r>
              <a:rPr lang="en-US" sz="2000" dirty="0">
                <a:solidFill>
                  <a:srgbClr val="002060"/>
                </a:solidFill>
                <a:latin typeface="Consolas" panose="020B0609020204030204" pitchFamily="49" charset="0"/>
              </a:rPr>
              <a:t>(0.51 MB - PDF)</a:t>
            </a:r>
          </a:p>
          <a:p>
            <a:pPr marL="342900" indent="-342900">
              <a:buFont typeface="Wingdings" panose="05000000000000000000" pitchFamily="2" charset="2"/>
              <a:buChar char="§"/>
            </a:pPr>
            <a:r>
              <a:rPr lang="en-US" sz="2000" dirty="0" err="1">
                <a:solidFill>
                  <a:srgbClr val="002060"/>
                </a:solidFill>
                <a:latin typeface="Consolas" panose="020B0609020204030204" pitchFamily="49" charset="0"/>
              </a:rPr>
              <a:t>Giakoumi</a:t>
            </a:r>
            <a:r>
              <a:rPr lang="en-US" sz="2000" dirty="0">
                <a:solidFill>
                  <a:srgbClr val="002060"/>
                </a:solidFill>
                <a:latin typeface="Consolas" panose="020B0609020204030204" pitchFamily="49" charset="0"/>
              </a:rPr>
              <a:t>, S., Pita, C., Coll, M., </a:t>
            </a:r>
            <a:r>
              <a:rPr lang="en-US" sz="2000" dirty="0" err="1">
                <a:solidFill>
                  <a:srgbClr val="002060"/>
                </a:solidFill>
                <a:latin typeface="Consolas" panose="020B0609020204030204" pitchFamily="49" charset="0"/>
              </a:rPr>
              <a:t>Fraschetti</a:t>
            </a:r>
            <a:r>
              <a:rPr lang="en-US" sz="2000" dirty="0">
                <a:solidFill>
                  <a:srgbClr val="002060"/>
                </a:solidFill>
                <a:latin typeface="Consolas" panose="020B0609020204030204" pitchFamily="49" charset="0"/>
              </a:rPr>
              <a:t>, S., </a:t>
            </a:r>
            <a:r>
              <a:rPr lang="en-US" sz="2000" dirty="0" err="1">
                <a:solidFill>
                  <a:srgbClr val="002060"/>
                </a:solidFill>
                <a:latin typeface="Consolas" panose="020B0609020204030204" pitchFamily="49" charset="0"/>
              </a:rPr>
              <a:t>Gissi</a:t>
            </a:r>
            <a:r>
              <a:rPr lang="en-US" sz="2000" dirty="0">
                <a:solidFill>
                  <a:srgbClr val="002060"/>
                </a:solidFill>
                <a:latin typeface="Consolas" panose="020B0609020204030204" pitchFamily="49" charset="0"/>
              </a:rPr>
              <a:t>, E., Katara, I., </a:t>
            </a:r>
            <a:r>
              <a:rPr lang="en-US" sz="2000" dirty="0" err="1">
                <a:solidFill>
                  <a:srgbClr val="002060"/>
                </a:solidFill>
                <a:latin typeface="Consolas" panose="020B0609020204030204" pitchFamily="49" charset="0"/>
              </a:rPr>
              <a:t>Lloret-Lloret</a:t>
            </a:r>
            <a:r>
              <a:rPr lang="en-US" sz="2000" dirty="0">
                <a:solidFill>
                  <a:srgbClr val="002060"/>
                </a:solidFill>
                <a:latin typeface="Consolas" panose="020B0609020204030204" pitchFamily="49" charset="0"/>
              </a:rPr>
              <a:t>, E., Rossi, F., Portman, M., </a:t>
            </a:r>
            <a:r>
              <a:rPr lang="en-US" sz="2000" dirty="0" err="1">
                <a:solidFill>
                  <a:srgbClr val="002060"/>
                </a:solidFill>
                <a:latin typeface="Consolas" panose="020B0609020204030204" pitchFamily="49" charset="0"/>
              </a:rPr>
              <a:t>Stelzenmüller</a:t>
            </a:r>
            <a:r>
              <a:rPr lang="en-US" sz="2000" dirty="0">
                <a:solidFill>
                  <a:srgbClr val="002060"/>
                </a:solidFill>
                <a:latin typeface="Consolas" panose="020B0609020204030204" pitchFamily="49" charset="0"/>
              </a:rPr>
              <a:t>, V., and </a:t>
            </a:r>
            <a:r>
              <a:rPr lang="en-US" sz="2000" dirty="0" err="1">
                <a:solidFill>
                  <a:srgbClr val="002060"/>
                </a:solidFill>
                <a:latin typeface="Consolas" panose="020B0609020204030204" pitchFamily="49" charset="0"/>
              </a:rPr>
              <a:t>Micheli</a:t>
            </a:r>
            <a:r>
              <a:rPr lang="en-US" sz="2000" dirty="0">
                <a:solidFill>
                  <a:srgbClr val="002060"/>
                </a:solidFill>
                <a:latin typeface="Consolas" panose="020B0609020204030204" pitchFamily="49" charset="0"/>
              </a:rPr>
              <a:t>, F. 2021. Persistent gender bias in marine science and conservation calls for action to achieve equity. Biological Conservation. 10.1016/j.biocon.2021.109134.</a:t>
            </a:r>
          </a:p>
          <a:p>
            <a:pPr marL="342900" indent="-342900">
              <a:buFont typeface="Wingdings" panose="05000000000000000000" pitchFamily="2" charset="2"/>
              <a:buChar char="§"/>
            </a:pPr>
            <a:r>
              <a:rPr lang="en-US" sz="2000" dirty="0" err="1">
                <a:solidFill>
                  <a:srgbClr val="002060"/>
                </a:solidFill>
                <a:latin typeface="Consolas" panose="020B0609020204030204" pitchFamily="49" charset="0"/>
              </a:rPr>
              <a:t>Shellock</a:t>
            </a:r>
            <a:r>
              <a:rPr lang="en-US" sz="2000" dirty="0">
                <a:solidFill>
                  <a:srgbClr val="002060"/>
                </a:solidFill>
                <a:latin typeface="Consolas" panose="020B0609020204030204" pitchFamily="49" charset="0"/>
              </a:rPr>
              <a:t> R., Christopher </a:t>
            </a:r>
            <a:r>
              <a:rPr lang="en-US" sz="2000" dirty="0" err="1">
                <a:solidFill>
                  <a:srgbClr val="002060"/>
                </a:solidFill>
                <a:latin typeface="Consolas" panose="020B0609020204030204" pitchFamily="49" charset="0"/>
              </a:rPr>
              <a:t>Cvitanovic</a:t>
            </a:r>
            <a:r>
              <a:rPr lang="en-US" sz="2000" dirty="0">
                <a:solidFill>
                  <a:srgbClr val="002060"/>
                </a:solidFill>
                <a:latin typeface="Consolas" panose="020B0609020204030204" pitchFamily="49" charset="0"/>
              </a:rPr>
              <a:t>, Mary Mackay, ..., </a:t>
            </a:r>
            <a:r>
              <a:rPr lang="en-US" sz="2000" dirty="0" err="1">
                <a:solidFill>
                  <a:srgbClr val="002060"/>
                </a:solidFill>
                <a:latin typeface="Consolas" panose="020B0609020204030204" pitchFamily="49" charset="0"/>
              </a:rPr>
              <a:t>Natașa</a:t>
            </a:r>
            <a:r>
              <a:rPr lang="en-US" sz="2000" dirty="0">
                <a:solidFill>
                  <a:srgbClr val="002060"/>
                </a:solidFill>
                <a:latin typeface="Consolas" panose="020B0609020204030204" pitchFamily="49" charset="0"/>
              </a:rPr>
              <a:t> </a:t>
            </a:r>
            <a:r>
              <a:rPr lang="en-US" sz="2000" dirty="0" err="1">
                <a:solidFill>
                  <a:srgbClr val="002060"/>
                </a:solidFill>
                <a:latin typeface="Consolas" panose="020B0609020204030204" pitchFamily="49" charset="0"/>
              </a:rPr>
              <a:t>Vaidianu</a:t>
            </a:r>
            <a:r>
              <a:rPr lang="en-US" sz="2000" dirty="0">
                <a:solidFill>
                  <a:srgbClr val="002060"/>
                </a:solidFill>
                <a:latin typeface="Consolas" panose="020B0609020204030204" pitchFamily="49" charset="0"/>
              </a:rPr>
              <a:t>, Mona Webber, Mary S. </a:t>
            </a:r>
            <a:r>
              <a:rPr lang="en-US" sz="2000" dirty="0" err="1">
                <a:solidFill>
                  <a:srgbClr val="002060"/>
                </a:solidFill>
                <a:latin typeface="Consolas" panose="020B0609020204030204" pitchFamily="49" charset="0"/>
              </a:rPr>
              <a:t>Wisz</a:t>
            </a:r>
            <a:r>
              <a:rPr lang="en-US" sz="2000" dirty="0">
                <a:solidFill>
                  <a:srgbClr val="002060"/>
                </a:solidFill>
                <a:latin typeface="Consolas" panose="020B0609020204030204" pitchFamily="49" charset="0"/>
              </a:rPr>
              <a:t>. Breaking down barriers: The identification of actions to promote gender  equality in interdisciplinary marine research institutions2022, One Earth 5, 687–708. https://doi.org/10.1016/j.oneear.2022.05.006.</a:t>
            </a:r>
          </a:p>
        </p:txBody>
      </p:sp>
      <p:cxnSp>
        <p:nvCxnSpPr>
          <p:cNvPr id="17" name="Conector recto 16"/>
          <p:cNvCxnSpPr/>
          <p:nvPr/>
        </p:nvCxnSpPr>
        <p:spPr>
          <a:xfrm>
            <a:off x="0" y="38193161"/>
            <a:ext cx="30275213" cy="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sp>
        <p:nvSpPr>
          <p:cNvPr id="69" name="Recortar rectángulo de esquina sencilla 2"/>
          <p:cNvSpPr/>
          <p:nvPr/>
        </p:nvSpPr>
        <p:spPr>
          <a:xfrm>
            <a:off x="339814" y="26032055"/>
            <a:ext cx="3889829" cy="638213"/>
          </a:xfrm>
          <a:prstGeom prst="snip1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4000" b="1" dirty="0">
                <a:solidFill>
                  <a:srgbClr val="FF0000"/>
                </a:solidFill>
                <a:latin typeface="Consolas" panose="020B0609020204030204" pitchFamily="49" charset="0"/>
              </a:rPr>
              <a:t>CONCLUSSIONS</a:t>
            </a:r>
            <a:endParaRPr lang="es-ES" b="1" dirty="0">
              <a:solidFill>
                <a:srgbClr val="FF0000"/>
              </a:solidFill>
              <a:latin typeface="Consolas" panose="020B0609020204030204" pitchFamily="49" charset="0"/>
            </a:endParaRPr>
          </a:p>
        </p:txBody>
      </p:sp>
      <p:sp>
        <p:nvSpPr>
          <p:cNvPr id="44" name="CuadroTexto 43"/>
          <p:cNvSpPr txBox="1"/>
          <p:nvPr/>
        </p:nvSpPr>
        <p:spPr>
          <a:xfrm>
            <a:off x="18883172" y="39837000"/>
            <a:ext cx="10378687" cy="707886"/>
          </a:xfrm>
          <a:prstGeom prst="rect">
            <a:avLst/>
          </a:prstGeom>
          <a:noFill/>
          <a:ln>
            <a:noFill/>
          </a:ln>
        </p:spPr>
        <p:txBody>
          <a:bodyPr wrap="square" rtlCol="0">
            <a:spAutoFit/>
          </a:bodyPr>
          <a:lstStyle/>
          <a:p>
            <a:pPr algn="ctr"/>
            <a:r>
              <a:rPr lang="es-ES" sz="4000" b="1" dirty="0">
                <a:solidFill>
                  <a:schemeClr val="bg1"/>
                </a:solidFill>
                <a:latin typeface="Consolas" panose="020B0609020204030204" pitchFamily="49" charset="0"/>
              </a:rPr>
              <a:t>MORE INFO</a:t>
            </a:r>
          </a:p>
        </p:txBody>
      </p:sp>
      <p:sp>
        <p:nvSpPr>
          <p:cNvPr id="2" name="Título 1"/>
          <p:cNvSpPr>
            <a:spLocks noGrp="1"/>
          </p:cNvSpPr>
          <p:nvPr>
            <p:ph type="ctrTitle"/>
          </p:nvPr>
        </p:nvSpPr>
        <p:spPr>
          <a:xfrm>
            <a:off x="37362" y="1977000"/>
            <a:ext cx="29192704" cy="3208818"/>
          </a:xfrm>
          <a:noFill/>
        </p:spPr>
        <p:txBody>
          <a:bodyPr>
            <a:noAutofit/>
          </a:bodyPr>
          <a:lstStyle/>
          <a:p>
            <a:pPr algn="l">
              <a:lnSpc>
                <a:spcPct val="115000"/>
              </a:lnSpc>
              <a:spcAft>
                <a:spcPts val="1000"/>
              </a:spcAft>
            </a:pPr>
            <a:r>
              <a:rPr lang="es-ES" sz="2800" dirty="0">
                <a:solidFill>
                  <a:schemeClr val="bg1">
                    <a:lumMod val="50000"/>
                  </a:schemeClr>
                </a:solidFill>
                <a:latin typeface="Consolas" panose="020B0609020204030204" pitchFamily="49" charset="0"/>
                <a:ea typeface="Verdana" panose="020B0604030504040204" pitchFamily="34" charset="0"/>
              </a:rPr>
              <a:t>Lucía Arranz</a:t>
            </a:r>
            <a:r>
              <a:rPr lang="es-ES" sz="2000" dirty="0">
                <a:solidFill>
                  <a:schemeClr val="bg1">
                    <a:lumMod val="50000"/>
                  </a:schemeClr>
                </a:solidFill>
                <a:latin typeface="Consolas" panose="020B0609020204030204" pitchFamily="49" charset="0"/>
                <a:ea typeface="Verdana" panose="020B0604030504040204" pitchFamily="34" charset="0"/>
              </a:rPr>
              <a:t>1</a:t>
            </a:r>
            <a:r>
              <a:rPr lang="es-ES" sz="2800" dirty="0">
                <a:solidFill>
                  <a:schemeClr val="bg1">
                    <a:lumMod val="50000"/>
                  </a:schemeClr>
                </a:solidFill>
                <a:latin typeface="Consolas" panose="020B0609020204030204" pitchFamily="49" charset="0"/>
                <a:ea typeface="Verdana" panose="020B0604030504040204" pitchFamily="34" charset="0"/>
              </a:rPr>
              <a:t>, Margarita Rincón3, María Soto1, </a:t>
            </a:r>
            <a:r>
              <a:rPr lang="es-ES" sz="2800" dirty="0" err="1">
                <a:solidFill>
                  <a:schemeClr val="bg1">
                    <a:lumMod val="50000"/>
                  </a:schemeClr>
                </a:solidFill>
                <a:latin typeface="Consolas" panose="020B0609020204030204" pitchFamily="49" charset="0"/>
                <a:ea typeface="Verdana" panose="020B0604030504040204" pitchFamily="34" charset="0"/>
              </a:rPr>
              <a:t>MarÍa</a:t>
            </a:r>
            <a:r>
              <a:rPr lang="es-ES" sz="2800" dirty="0">
                <a:solidFill>
                  <a:schemeClr val="bg1">
                    <a:lumMod val="50000"/>
                  </a:schemeClr>
                </a:solidFill>
                <a:latin typeface="Consolas" panose="020B0609020204030204" pitchFamily="49" charset="0"/>
                <a:ea typeface="Verdana" panose="020B0604030504040204" pitchFamily="34" charset="0"/>
              </a:rPr>
              <a:t> José Juan Jordá1, Diana González1, Lucía Rueda1, </a:t>
            </a:r>
            <a:r>
              <a:rPr lang="es-ES" sz="2800" dirty="0" err="1">
                <a:solidFill>
                  <a:schemeClr val="bg1">
                    <a:lumMod val="50000"/>
                  </a:schemeClr>
                </a:solidFill>
                <a:latin typeface="Consolas" panose="020B0609020204030204" pitchFamily="49" charset="0"/>
                <a:ea typeface="Verdana" panose="020B0604030504040204" pitchFamily="34" charset="0"/>
              </a:rPr>
              <a:t>Maria</a:t>
            </a:r>
            <a:r>
              <a:rPr lang="es-ES" sz="2800" dirty="0">
                <a:solidFill>
                  <a:schemeClr val="bg1">
                    <a:lumMod val="50000"/>
                  </a:schemeClr>
                </a:solidFill>
                <a:latin typeface="Consolas" panose="020B0609020204030204" pitchFamily="49" charset="0"/>
                <a:ea typeface="Verdana" panose="020B0604030504040204" pitchFamily="34" charset="0"/>
              </a:rPr>
              <a:t> </a:t>
            </a:r>
            <a:r>
              <a:rPr lang="es-ES" sz="2800" dirty="0" err="1">
                <a:solidFill>
                  <a:schemeClr val="bg1">
                    <a:lumMod val="50000"/>
                  </a:schemeClr>
                </a:solidFill>
                <a:latin typeface="Consolas" panose="020B0609020204030204" pitchFamily="49" charset="0"/>
                <a:ea typeface="Verdana" panose="020B0604030504040204" pitchFamily="34" charset="0"/>
              </a:rPr>
              <a:t>Grazia</a:t>
            </a:r>
            <a:r>
              <a:rPr lang="es-ES" sz="2800" dirty="0">
                <a:solidFill>
                  <a:schemeClr val="bg1">
                    <a:lumMod val="50000"/>
                  </a:schemeClr>
                </a:solidFill>
                <a:latin typeface="Consolas" panose="020B0609020204030204" pitchFamily="49" charset="0"/>
                <a:ea typeface="Verdana" panose="020B0604030504040204" pitchFamily="34" charset="0"/>
              </a:rPr>
              <a:t> Pennino2.</a:t>
            </a:r>
            <a:r>
              <a:rPr lang="es-ES" sz="2400" dirty="0">
                <a:latin typeface="Consolas" panose="020B0609020204030204" pitchFamily="49" charset="0"/>
                <a:ea typeface="Verdana" panose="020B0604030504040204" pitchFamily="34" charset="0"/>
                <a:cs typeface="Times New Roman" panose="02020603050405020304" pitchFamily="18" charset="0"/>
              </a:rPr>
              <a:t> </a:t>
            </a:r>
            <a:br>
              <a:rPr lang="es-ES" sz="2400" dirty="0">
                <a:latin typeface="Consolas" panose="020B0609020204030204" pitchFamily="49" charset="0"/>
                <a:ea typeface="Verdana" panose="020B0604030504040204" pitchFamily="34" charset="0"/>
                <a:cs typeface="Times New Roman" panose="02020603050405020304" pitchFamily="18" charset="0"/>
              </a:rPr>
            </a:br>
            <a:r>
              <a:rPr lang="es-ES" sz="2400" dirty="0">
                <a:latin typeface="Consolas" panose="020B0609020204030204" pitchFamily="49" charset="0"/>
                <a:ea typeface="Verdana" panose="020B0604030504040204" pitchFamily="34" charset="0"/>
                <a:cs typeface="Times New Roman" panose="02020603050405020304" pitchFamily="18" charset="0"/>
              </a:rPr>
              <a:t>1.</a:t>
            </a:r>
            <a:r>
              <a:rPr lang="es-ES" sz="2400" b="1" dirty="0">
                <a:solidFill>
                  <a:schemeClr val="bg1">
                    <a:lumMod val="65000"/>
                  </a:schemeClr>
                </a:solidFill>
                <a:latin typeface="Consolas" panose="020B0609020204030204" pitchFamily="49" charset="0"/>
                <a:ea typeface="Verdana" panose="020B0604030504040204" pitchFamily="34" charset="0"/>
                <a:cs typeface="Times New Roman" panose="02020603050405020304" pitchFamily="18" charset="0"/>
              </a:rPr>
              <a:t>Instituto Español de Oceanografía (IEO-CSIC), 2.</a:t>
            </a:r>
            <a:r>
              <a:rPr lang="es-ES" sz="2400" b="0" i="0" u="none" strike="noStrike" dirty="0">
                <a:solidFill>
                  <a:schemeClr val="bg1">
                    <a:lumMod val="65000"/>
                  </a:schemeClr>
                </a:solidFill>
                <a:effectLst/>
                <a:latin typeface="Consolas" panose="020B0609020204030204" pitchFamily="49" charset="0"/>
              </a:rPr>
              <a:t>Institut de </a:t>
            </a:r>
            <a:r>
              <a:rPr lang="es-ES" sz="2400" b="0" i="0" u="none" strike="noStrike" dirty="0" err="1">
                <a:solidFill>
                  <a:schemeClr val="bg1">
                    <a:lumMod val="65000"/>
                  </a:schemeClr>
                </a:solidFill>
                <a:effectLst/>
                <a:latin typeface="Consolas" panose="020B0609020204030204" pitchFamily="49" charset="0"/>
              </a:rPr>
              <a:t>Ciències</a:t>
            </a:r>
            <a:r>
              <a:rPr lang="es-ES" sz="2400" b="0" i="0" u="none" strike="noStrike" dirty="0">
                <a:solidFill>
                  <a:schemeClr val="bg1">
                    <a:lumMod val="65000"/>
                  </a:schemeClr>
                </a:solidFill>
                <a:effectLst/>
                <a:latin typeface="Consolas" panose="020B0609020204030204" pitchFamily="49" charset="0"/>
              </a:rPr>
              <a:t> del Mar (ICM- CSIC),  3.Joint </a:t>
            </a:r>
            <a:r>
              <a:rPr lang="es-ES" sz="2400" b="0" i="0" u="none" strike="noStrike" dirty="0" err="1">
                <a:solidFill>
                  <a:schemeClr val="bg1">
                    <a:lumMod val="65000"/>
                  </a:schemeClr>
                </a:solidFill>
                <a:effectLst/>
                <a:latin typeface="Consolas" panose="020B0609020204030204" pitchFamily="49" charset="0"/>
              </a:rPr>
              <a:t>Reseach</a:t>
            </a:r>
            <a:r>
              <a:rPr lang="es-ES" sz="2400" b="0" i="0" u="none" strike="noStrike" dirty="0">
                <a:solidFill>
                  <a:schemeClr val="bg1">
                    <a:lumMod val="65000"/>
                  </a:schemeClr>
                </a:solidFill>
                <a:effectLst/>
                <a:latin typeface="Consolas" panose="020B0609020204030204" pitchFamily="49" charset="0"/>
              </a:rPr>
              <a:t> Centre (JRC)</a:t>
            </a:r>
            <a:endParaRPr lang="es-ES" sz="2400" b="1" dirty="0">
              <a:solidFill>
                <a:schemeClr val="bg1">
                  <a:lumMod val="65000"/>
                </a:schemeClr>
              </a:solidFill>
              <a:latin typeface="Consolas" panose="020B0609020204030204" pitchFamily="49" charset="0"/>
            </a:endParaRPr>
          </a:p>
        </p:txBody>
      </p:sp>
      <p:sp>
        <p:nvSpPr>
          <p:cNvPr id="7" name="CuadroTexto 6"/>
          <p:cNvSpPr txBox="1"/>
          <p:nvPr/>
        </p:nvSpPr>
        <p:spPr>
          <a:xfrm>
            <a:off x="0" y="-630"/>
            <a:ext cx="30340383" cy="3970318"/>
          </a:xfrm>
          <a:prstGeom prst="rect">
            <a:avLst/>
          </a:prstGeom>
          <a:solidFill>
            <a:srgbClr val="002060"/>
          </a:solidFill>
        </p:spPr>
        <p:txBody>
          <a:bodyPr wrap="square" rtlCol="0">
            <a:spAutoFit/>
          </a:bodyPr>
          <a:lstStyle/>
          <a:p>
            <a:pPr marL="1620000" algn="ctr"/>
            <a:r>
              <a:rPr lang="es-ES" sz="7200" b="1" dirty="0">
                <a:solidFill>
                  <a:schemeClr val="bg1"/>
                </a:solidFill>
                <a:latin typeface="Consolas" panose="020B0609020204030204" pitchFamily="49" charset="0"/>
                <a:ea typeface="Verdana" panose="020B0604030504040204" pitchFamily="34" charset="0"/>
              </a:rPr>
              <a:t>	</a:t>
            </a:r>
          </a:p>
          <a:p>
            <a:pPr marL="1620000" algn="ctr"/>
            <a:endParaRPr lang="en-US" sz="3200" b="1" dirty="0">
              <a:solidFill>
                <a:schemeClr val="bg1"/>
              </a:solidFill>
              <a:latin typeface="Consolas" panose="020B0609020204030204" pitchFamily="49" charset="0"/>
              <a:ea typeface="Verdana" panose="020B0604030504040204" pitchFamily="34" charset="0"/>
            </a:endParaRPr>
          </a:p>
          <a:p>
            <a:pPr marL="1620000" algn="ctr"/>
            <a:r>
              <a:rPr lang="en-US" sz="7200" b="1" dirty="0">
                <a:solidFill>
                  <a:schemeClr val="bg1"/>
                </a:solidFill>
                <a:latin typeface="Consolas" panose="020B0609020204030204" pitchFamily="49" charset="0"/>
                <a:ea typeface="Verdana" panose="020B0604030504040204" pitchFamily="34" charset="0"/>
              </a:rPr>
              <a:t>SILENT CURRENTS: GENDER BIAS BELOW THE</a:t>
            </a:r>
          </a:p>
          <a:p>
            <a:pPr marL="1620000" algn="ctr"/>
            <a:r>
              <a:rPr lang="en-US" sz="7200" b="1" dirty="0">
                <a:solidFill>
                  <a:schemeClr val="bg1"/>
                </a:solidFill>
                <a:latin typeface="Consolas" panose="020B0609020204030204" pitchFamily="49" charset="0"/>
                <a:ea typeface="Verdana" panose="020B0604030504040204" pitchFamily="34" charset="0"/>
              </a:rPr>
              <a:t> SURFACE OF FISHERIES SCIENCE</a:t>
            </a:r>
            <a:endParaRPr lang="es-ES" sz="7200" dirty="0">
              <a:solidFill>
                <a:schemeClr val="bg1"/>
              </a:solidFill>
              <a:latin typeface="Consolas" panose="020B0609020204030204" pitchFamily="49" charset="0"/>
            </a:endParaRPr>
          </a:p>
        </p:txBody>
      </p:sp>
      <p:sp>
        <p:nvSpPr>
          <p:cNvPr id="43" name="CuadroTexto 42"/>
          <p:cNvSpPr txBox="1"/>
          <p:nvPr/>
        </p:nvSpPr>
        <p:spPr>
          <a:xfrm>
            <a:off x="25716107" y="40802804"/>
            <a:ext cx="4374951" cy="2062103"/>
          </a:xfrm>
          <a:prstGeom prst="rect">
            <a:avLst/>
          </a:prstGeom>
          <a:noFill/>
          <a:ln>
            <a:noFill/>
          </a:ln>
        </p:spPr>
        <p:txBody>
          <a:bodyPr wrap="square" rtlCol="0">
            <a:spAutoFit/>
          </a:bodyPr>
          <a:lstStyle/>
          <a:p>
            <a:pPr algn="ctr"/>
            <a:endParaRPr lang="es-ES" sz="4000" b="1" dirty="0">
              <a:solidFill>
                <a:schemeClr val="bg1"/>
              </a:solidFill>
              <a:latin typeface="Consolas" panose="020B0609020204030204" pitchFamily="49" charset="0"/>
            </a:endParaRPr>
          </a:p>
          <a:p>
            <a:pPr algn="ctr"/>
            <a:r>
              <a:rPr lang="es-ES" sz="4000" b="1" dirty="0">
                <a:solidFill>
                  <a:schemeClr val="bg1"/>
                </a:solidFill>
                <a:latin typeface="Consolas" panose="020B0609020204030204" pitchFamily="49" charset="0"/>
              </a:rPr>
              <a:t>CONTACT</a:t>
            </a:r>
          </a:p>
          <a:p>
            <a:r>
              <a:rPr lang="es-ES" sz="2400" b="1" dirty="0">
                <a:solidFill>
                  <a:schemeClr val="bg1"/>
                </a:solidFill>
                <a:latin typeface="Consolas" panose="020B0609020204030204" pitchFamily="49" charset="0"/>
              </a:rPr>
              <a:t>lucia.arranz@ieo.csic.es</a:t>
            </a:r>
          </a:p>
          <a:p>
            <a:endParaRPr lang="es-ES" sz="2400" dirty="0">
              <a:solidFill>
                <a:schemeClr val="bg1"/>
              </a:solidFill>
              <a:latin typeface="Consolas" panose="020B0609020204030204" pitchFamily="49" charset="0"/>
            </a:endParaRPr>
          </a:p>
        </p:txBody>
      </p:sp>
      <p:sp>
        <p:nvSpPr>
          <p:cNvPr id="65" name="Recortar rectángulo de esquina sencilla 2"/>
          <p:cNvSpPr/>
          <p:nvPr/>
        </p:nvSpPr>
        <p:spPr>
          <a:xfrm>
            <a:off x="24750760" y="5133563"/>
            <a:ext cx="3889829" cy="767860"/>
          </a:xfrm>
          <a:prstGeom prst="snip1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4000" b="1" dirty="0">
                <a:solidFill>
                  <a:srgbClr val="FF0000"/>
                </a:solidFill>
                <a:latin typeface="Consolas" panose="020B0609020204030204" pitchFamily="49" charset="0"/>
              </a:rPr>
              <a:t>HIPOTHESIS</a:t>
            </a:r>
            <a:endParaRPr lang="es-ES" b="1" dirty="0">
              <a:solidFill>
                <a:srgbClr val="FF0000"/>
              </a:solidFill>
              <a:latin typeface="Consolas" panose="020B0609020204030204" pitchFamily="49" charset="0"/>
            </a:endParaRPr>
          </a:p>
        </p:txBody>
      </p:sp>
      <p:grpSp>
        <p:nvGrpSpPr>
          <p:cNvPr id="4" name="Grupo 3"/>
          <p:cNvGrpSpPr/>
          <p:nvPr/>
        </p:nvGrpSpPr>
        <p:grpSpPr>
          <a:xfrm>
            <a:off x="13436399" y="41360714"/>
            <a:ext cx="4307299" cy="1296668"/>
            <a:chOff x="2081787" y="5690044"/>
            <a:chExt cx="4307299" cy="1296668"/>
          </a:xfrm>
        </p:grpSpPr>
        <p:pic>
          <p:nvPicPr>
            <p:cNvPr id="47" name="Imagen 4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9221" y="5741762"/>
              <a:ext cx="2686155" cy="900000"/>
            </a:xfrm>
            <a:prstGeom prst="rect">
              <a:avLst/>
            </a:prstGeom>
          </p:spPr>
        </p:pic>
        <p:pic>
          <p:nvPicPr>
            <p:cNvPr id="48" name="Imagen 4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33933" y="5690044"/>
              <a:ext cx="1255153" cy="1260000"/>
            </a:xfrm>
            <a:prstGeom prst="rect">
              <a:avLst/>
            </a:prstGeom>
          </p:spPr>
        </p:pic>
        <p:sp>
          <p:nvSpPr>
            <p:cNvPr id="50" name="CuadroTexto 49"/>
            <p:cNvSpPr txBox="1"/>
            <p:nvPr/>
          </p:nvSpPr>
          <p:spPr>
            <a:xfrm>
              <a:off x="2081787" y="6678935"/>
              <a:ext cx="2967479" cy="307777"/>
            </a:xfrm>
            <a:prstGeom prst="rect">
              <a:avLst/>
            </a:prstGeom>
            <a:noFill/>
          </p:spPr>
          <p:txBody>
            <a:bodyPr wrap="none" rtlCol="0">
              <a:spAutoFit/>
            </a:bodyPr>
            <a:lstStyle/>
            <a:p>
              <a:pPr algn="ctr"/>
              <a:r>
                <a:rPr lang="es-ES" sz="1400" dirty="0" err="1">
                  <a:solidFill>
                    <a:schemeClr val="bg1"/>
                  </a:solidFill>
                  <a:latin typeface="Consolas" panose="020B0609020204030204" pitchFamily="49" charset="0"/>
                </a:rPr>
                <a:t>Quantitative</a:t>
              </a:r>
              <a:r>
                <a:rPr lang="es-ES" sz="1400" dirty="0">
                  <a:solidFill>
                    <a:schemeClr val="bg1"/>
                  </a:solidFill>
                  <a:latin typeface="Consolas" panose="020B0609020204030204" pitchFamily="49" charset="0"/>
                </a:rPr>
                <a:t> </a:t>
              </a:r>
              <a:r>
                <a:rPr lang="es-ES" sz="1400" dirty="0" err="1">
                  <a:solidFill>
                    <a:schemeClr val="bg1"/>
                  </a:solidFill>
                  <a:latin typeface="Consolas" panose="020B0609020204030204" pitchFamily="49" charset="0"/>
                </a:rPr>
                <a:t>Assessment</a:t>
              </a:r>
              <a:r>
                <a:rPr lang="es-ES" sz="1400" dirty="0">
                  <a:solidFill>
                    <a:schemeClr val="bg1"/>
                  </a:solidFill>
                  <a:latin typeface="Consolas" panose="020B0609020204030204" pitchFamily="49" charset="0"/>
                </a:rPr>
                <a:t> in R</a:t>
              </a:r>
            </a:p>
          </p:txBody>
        </p:sp>
      </p:grpSp>
      <p:sp>
        <p:nvSpPr>
          <p:cNvPr id="57" name="CuadroTexto 56"/>
          <p:cNvSpPr txBox="1"/>
          <p:nvPr/>
        </p:nvSpPr>
        <p:spPr>
          <a:xfrm>
            <a:off x="8697434" y="6249919"/>
            <a:ext cx="11121654" cy="2677656"/>
          </a:xfrm>
          <a:prstGeom prst="rect">
            <a:avLst/>
          </a:prstGeom>
          <a:noFill/>
        </p:spPr>
        <p:txBody>
          <a:bodyPr wrap="square" rtlCol="0">
            <a:spAutoFit/>
          </a:bodyPr>
          <a:lstStyle/>
          <a:p>
            <a:pPr algn="just"/>
            <a:endParaRPr lang="en-US" sz="2400" dirty="0">
              <a:solidFill>
                <a:srgbClr val="0070C0"/>
              </a:solidFill>
              <a:latin typeface="Consolas" panose="020B0609020204030204" pitchFamily="49" charset="0"/>
            </a:endParaRPr>
          </a:p>
          <a:p>
            <a:pPr algn="just"/>
            <a:r>
              <a:rPr lang="en-US" sz="3600" b="1" dirty="0">
                <a:solidFill>
                  <a:srgbClr val="0070C0"/>
                </a:solidFill>
                <a:latin typeface="Consolas" panose="020B0609020204030204" pitchFamily="49" charset="0"/>
              </a:rPr>
              <a:t>Is gender bias persistent in participation and leadership roles within the scientific assessment groups of Regional Fisheries Management Organizations (RFMOs)?</a:t>
            </a:r>
          </a:p>
        </p:txBody>
      </p:sp>
      <p:cxnSp>
        <p:nvCxnSpPr>
          <p:cNvPr id="58" name="Conector recto 57"/>
          <p:cNvCxnSpPr/>
          <p:nvPr/>
        </p:nvCxnSpPr>
        <p:spPr>
          <a:xfrm>
            <a:off x="-10885" y="5215509"/>
            <a:ext cx="30275213" cy="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59" name="Conector recto 58"/>
          <p:cNvCxnSpPr/>
          <p:nvPr/>
        </p:nvCxnSpPr>
        <p:spPr>
          <a:xfrm>
            <a:off x="10887" y="14130443"/>
            <a:ext cx="30275213" cy="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61" name="Conector recto 60"/>
          <p:cNvCxnSpPr/>
          <p:nvPr/>
        </p:nvCxnSpPr>
        <p:spPr>
          <a:xfrm>
            <a:off x="-217469" y="25863962"/>
            <a:ext cx="30275213" cy="0"/>
          </a:xfrm>
          <a:prstGeom prst="line">
            <a:avLst/>
          </a:prstGeom>
          <a:ln w="50800">
            <a:solidFill>
              <a:srgbClr val="002060"/>
            </a:solidFill>
          </a:ln>
        </p:spPr>
        <p:style>
          <a:lnRef idx="1">
            <a:schemeClr val="accent1"/>
          </a:lnRef>
          <a:fillRef idx="0">
            <a:schemeClr val="accent1"/>
          </a:fillRef>
          <a:effectRef idx="0">
            <a:schemeClr val="accent1"/>
          </a:effectRef>
          <a:fontRef idx="minor">
            <a:schemeClr val="tx1"/>
          </a:fontRef>
        </p:style>
      </p:cxnSp>
      <p:sp>
        <p:nvSpPr>
          <p:cNvPr id="6" name="CuadroTexto 5"/>
          <p:cNvSpPr txBox="1"/>
          <p:nvPr/>
        </p:nvSpPr>
        <p:spPr>
          <a:xfrm>
            <a:off x="20733488" y="5985296"/>
            <a:ext cx="9215154" cy="1569660"/>
          </a:xfrm>
          <a:prstGeom prst="rect">
            <a:avLst/>
          </a:prstGeom>
          <a:noFill/>
        </p:spPr>
        <p:txBody>
          <a:bodyPr wrap="square" rtlCol="0">
            <a:spAutoFit/>
          </a:bodyPr>
          <a:lstStyle/>
          <a:p>
            <a:pPr algn="just"/>
            <a:r>
              <a:rPr lang="en-US" sz="3200" dirty="0">
                <a:solidFill>
                  <a:srgbClr val="002060"/>
                </a:solidFill>
                <a:latin typeface="Consolas" panose="020B0609020204030204" pitchFamily="49" charset="0"/>
              </a:rPr>
              <a:t>Gender bias is more persistent on leadership roles than in participation roles in assessment groups of RFMOs</a:t>
            </a:r>
          </a:p>
        </p:txBody>
      </p:sp>
      <p:pic>
        <p:nvPicPr>
          <p:cNvPr id="27" name="Imagen 26">
            <a:extLst>
              <a:ext uri="{FF2B5EF4-FFF2-40B4-BE49-F238E27FC236}">
                <a16:creationId xmlns:a16="http://schemas.microsoft.com/office/drawing/2014/main" id="{97F0693F-3A75-42EA-87CA-7B78A8AA21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373882" y="7871390"/>
            <a:ext cx="14400554" cy="7168411"/>
          </a:xfrm>
          <a:prstGeom prst="rect">
            <a:avLst/>
          </a:prstGeom>
        </p:spPr>
      </p:pic>
      <p:sp>
        <p:nvSpPr>
          <p:cNvPr id="49" name="CuadroTexto 48">
            <a:extLst>
              <a:ext uri="{FF2B5EF4-FFF2-40B4-BE49-F238E27FC236}">
                <a16:creationId xmlns:a16="http://schemas.microsoft.com/office/drawing/2014/main" id="{1413716E-1A26-4304-9014-D96081CB25C8}"/>
              </a:ext>
            </a:extLst>
          </p:cNvPr>
          <p:cNvSpPr txBox="1"/>
          <p:nvPr/>
        </p:nvSpPr>
        <p:spPr>
          <a:xfrm>
            <a:off x="621474" y="11215869"/>
            <a:ext cx="12646624" cy="2308324"/>
          </a:xfrm>
          <a:prstGeom prst="rect">
            <a:avLst/>
          </a:prstGeom>
          <a:noFill/>
        </p:spPr>
        <p:txBody>
          <a:bodyPr wrap="square">
            <a:spAutoFit/>
          </a:bodyPr>
          <a:lstStyle/>
          <a:p>
            <a:pPr algn="just"/>
            <a:r>
              <a:rPr lang="en-US" sz="3600" dirty="0">
                <a:solidFill>
                  <a:srgbClr val="002060"/>
                </a:solidFill>
                <a:latin typeface="Consolas" panose="020B0609020204030204" pitchFamily="49" charset="0"/>
              </a:rPr>
              <a:t>“Beneath the surface, </a:t>
            </a:r>
            <a:r>
              <a:rPr lang="en-US" sz="3600" dirty="0">
                <a:solidFill>
                  <a:srgbClr val="FF0000"/>
                </a:solidFill>
                <a:latin typeface="Consolas" panose="020B0609020204030204" pitchFamily="49" charset="0"/>
              </a:rPr>
              <a:t>gender bias </a:t>
            </a:r>
            <a:r>
              <a:rPr lang="en-US" sz="3600" dirty="0">
                <a:solidFill>
                  <a:srgbClr val="002060"/>
                </a:solidFill>
                <a:latin typeface="Consolas" panose="020B0609020204030204" pitchFamily="49" charset="0"/>
              </a:rPr>
              <a:t>continues to shape who speaks for the ocean. Recognizing and reversing these silent currents is key to equitable science and sustainable seas.”</a:t>
            </a:r>
          </a:p>
        </p:txBody>
      </p:sp>
      <p:sp>
        <p:nvSpPr>
          <p:cNvPr id="51" name="CuadroTexto 50">
            <a:extLst>
              <a:ext uri="{FF2B5EF4-FFF2-40B4-BE49-F238E27FC236}">
                <a16:creationId xmlns:a16="http://schemas.microsoft.com/office/drawing/2014/main" id="{92363B21-AA4A-424A-AB6B-830C2701BC82}"/>
              </a:ext>
            </a:extLst>
          </p:cNvPr>
          <p:cNvSpPr txBox="1"/>
          <p:nvPr/>
        </p:nvSpPr>
        <p:spPr>
          <a:xfrm>
            <a:off x="558217" y="15086181"/>
            <a:ext cx="8970283" cy="9778831"/>
          </a:xfrm>
          <a:prstGeom prst="rect">
            <a:avLst/>
          </a:prstGeom>
          <a:noFill/>
        </p:spPr>
        <p:txBody>
          <a:bodyPr wrap="square">
            <a:spAutoFit/>
          </a:bodyPr>
          <a:lstStyle/>
          <a:p>
            <a:pPr>
              <a:lnSpc>
                <a:spcPct val="107000"/>
              </a:lnSpc>
              <a:spcBef>
                <a:spcPts val="600"/>
              </a:spcBef>
              <a:spcAft>
                <a:spcPts val="1400"/>
              </a:spcAft>
            </a:pPr>
            <a:r>
              <a:rPr lang="en-US" sz="3600" dirty="0">
                <a:solidFill>
                  <a:srgbClr val="002060"/>
                </a:solidFill>
                <a:effectLst/>
                <a:latin typeface="Consolas" panose="020B0609020204030204" pitchFamily="49" charset="0"/>
                <a:ea typeface="Calibri" panose="020F0502020204030204" pitchFamily="34" charset="0"/>
                <a:cs typeface="Times New Roman" panose="02020603050405020304" pitchFamily="18" charset="0"/>
              </a:rPr>
              <a:t>Initial data from reports: participation (2021-2024) in the </a:t>
            </a:r>
            <a:r>
              <a:rPr lang="en-CA" sz="3600" dirty="0">
                <a:solidFill>
                  <a:srgbClr val="002060"/>
                </a:solidFill>
                <a:effectLst/>
                <a:latin typeface="Consolas" panose="020B0609020204030204" pitchFamily="49" charset="0"/>
                <a:ea typeface="Calibri" panose="020F0502020204030204" pitchFamily="34" charset="0"/>
                <a:cs typeface="Times New Roman" panose="02020603050405020304" pitchFamily="18" charset="0"/>
              </a:rPr>
              <a:t>International Council for the Exploration of the Sea (I</a:t>
            </a:r>
            <a:r>
              <a:rPr lang="en-US" sz="3600" dirty="0">
                <a:solidFill>
                  <a:srgbClr val="002060"/>
                </a:solidFill>
                <a:effectLst/>
                <a:latin typeface="Consolas" panose="020B0609020204030204" pitchFamily="49" charset="0"/>
                <a:ea typeface="Calibri" panose="020F0502020204030204" pitchFamily="34" charset="0"/>
                <a:cs typeface="Times New Roman" panose="02020603050405020304" pitchFamily="18" charset="0"/>
              </a:rPr>
              <a:t>CES) Advisory Committee on Fishery Management</a:t>
            </a:r>
            <a:r>
              <a:rPr lang="en-CA" sz="3600" dirty="0">
                <a:solidFill>
                  <a:srgbClr val="002060"/>
                </a:solidFill>
                <a:effectLst/>
                <a:latin typeface="Consolas" panose="020B0609020204030204" pitchFamily="49" charset="0"/>
                <a:ea typeface="Calibri" panose="020F0502020204030204" pitchFamily="34" charset="0"/>
                <a:cs typeface="Times New Roman" panose="02020603050405020304" pitchFamily="18" charset="0"/>
              </a:rPr>
              <a:t> , focusing on the composition of its </a:t>
            </a:r>
            <a:r>
              <a:rPr lang="en-CA" sz="3600" b="1" dirty="0">
                <a:solidFill>
                  <a:srgbClr val="002060"/>
                </a:solidFill>
                <a:effectLst/>
                <a:latin typeface="Consolas" panose="020B0609020204030204" pitchFamily="49" charset="0"/>
                <a:ea typeface="Calibri" panose="020F0502020204030204" pitchFamily="34" charset="0"/>
                <a:cs typeface="Times New Roman" panose="02020603050405020304" pitchFamily="18" charset="0"/>
              </a:rPr>
              <a:t>stock assessment Working Groups (WGs)</a:t>
            </a:r>
            <a:r>
              <a:rPr lang="en-CA" sz="3600" dirty="0">
                <a:solidFill>
                  <a:srgbClr val="002060"/>
                </a:solidFill>
                <a:effectLst/>
                <a:latin typeface="Consolas" panose="020B0609020204030204" pitchFamily="49" charset="0"/>
                <a:ea typeface="Calibri" panose="020F0502020204030204" pitchFamily="34" charset="0"/>
                <a:cs typeface="Times New Roman" panose="02020603050405020304" pitchFamily="18" charset="0"/>
              </a:rPr>
              <a:t>.</a:t>
            </a:r>
          </a:p>
          <a:p>
            <a:pPr>
              <a:lnSpc>
                <a:spcPct val="107000"/>
              </a:lnSpc>
              <a:spcBef>
                <a:spcPts val="600"/>
              </a:spcBef>
              <a:spcAft>
                <a:spcPts val="1400"/>
              </a:spcAft>
            </a:pPr>
            <a:r>
              <a:rPr lang="en-US" sz="3600" dirty="0">
                <a:solidFill>
                  <a:srgbClr val="002060"/>
                </a:solidFill>
                <a:effectLst/>
                <a:latin typeface="Consolas" panose="020B0609020204030204" pitchFamily="49" charset="0"/>
                <a:ea typeface="Calibri" panose="020F0502020204030204" pitchFamily="34" charset="0"/>
                <a:cs typeface="Times New Roman" panose="02020603050405020304" pitchFamily="18" charset="0"/>
              </a:rPr>
              <a:t>Data base construction: participants and chairs from ICES stock assessment relevant working groups, using a multi-step workflow combining R coding and artificial intelligence (AI) (Fernandez-Machado, 2025).</a:t>
            </a:r>
          </a:p>
          <a:p>
            <a:pPr>
              <a:lnSpc>
                <a:spcPct val="107000"/>
              </a:lnSpc>
              <a:spcBef>
                <a:spcPts val="600"/>
              </a:spcBef>
              <a:spcAft>
                <a:spcPts val="1400"/>
              </a:spcAft>
            </a:pPr>
            <a:r>
              <a:rPr lang="en-US" sz="1800" dirty="0">
                <a:solidFill>
                  <a:srgbClr val="002060"/>
                </a:solidFill>
                <a:latin typeface="Consolas" panose="020B0609020204030204" pitchFamily="49" charset="0"/>
                <a:ea typeface="Calibri" panose="020F0502020204030204" pitchFamily="34" charset="0"/>
                <a:cs typeface="Times New Roman" panose="02020603050405020304" pitchFamily="18" charset="0"/>
              </a:rPr>
              <a:t>*Study limitation: inferring gender from name</a:t>
            </a:r>
            <a:endParaRPr lang="es-ES" sz="1800" dirty="0">
              <a:solidFill>
                <a:srgbClr val="002060"/>
              </a:solidFill>
              <a:effectLst/>
              <a:latin typeface="Consolas" panose="020B0609020204030204" pitchFamily="49" charset="0"/>
              <a:ea typeface="Calibri" panose="020F0502020204030204" pitchFamily="34" charset="0"/>
              <a:cs typeface="Times New Roman" panose="02020603050405020304" pitchFamily="18" charset="0"/>
            </a:endParaRPr>
          </a:p>
        </p:txBody>
      </p:sp>
      <p:pic>
        <p:nvPicPr>
          <p:cNvPr id="30" name="Imagen 29">
            <a:extLst>
              <a:ext uri="{FF2B5EF4-FFF2-40B4-BE49-F238E27FC236}">
                <a16:creationId xmlns:a16="http://schemas.microsoft.com/office/drawing/2014/main" id="{27954D7E-B4D0-419E-B37A-1AFAEF8446C7}"/>
              </a:ext>
            </a:extLst>
          </p:cNvPr>
          <p:cNvPicPr>
            <a:picLocks noChangeAspect="1"/>
          </p:cNvPicPr>
          <p:nvPr/>
        </p:nvPicPr>
        <p:blipFill>
          <a:blip r:embed="rId6"/>
          <a:stretch>
            <a:fillRect/>
          </a:stretch>
        </p:blipFill>
        <p:spPr>
          <a:xfrm>
            <a:off x="9611654" y="14676580"/>
            <a:ext cx="8251585" cy="9900000"/>
          </a:xfrm>
          <a:prstGeom prst="rect">
            <a:avLst/>
          </a:prstGeom>
        </p:spPr>
      </p:pic>
      <p:pic>
        <p:nvPicPr>
          <p:cNvPr id="32" name="Imagen 31">
            <a:extLst>
              <a:ext uri="{FF2B5EF4-FFF2-40B4-BE49-F238E27FC236}">
                <a16:creationId xmlns:a16="http://schemas.microsoft.com/office/drawing/2014/main" id="{7C27075B-2313-4CDD-A88F-1129F13E89B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738898" y="14274989"/>
            <a:ext cx="4572000" cy="4572000"/>
          </a:xfrm>
          <a:prstGeom prst="rect">
            <a:avLst/>
          </a:prstGeom>
        </p:spPr>
      </p:pic>
      <p:pic>
        <p:nvPicPr>
          <p:cNvPr id="34" name="Imagen 33">
            <a:extLst>
              <a:ext uri="{FF2B5EF4-FFF2-40B4-BE49-F238E27FC236}">
                <a16:creationId xmlns:a16="http://schemas.microsoft.com/office/drawing/2014/main" id="{56BAF774-9547-437E-93D1-3FB576D7515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731344" y="14597729"/>
            <a:ext cx="4572000" cy="4572000"/>
          </a:xfrm>
          <a:prstGeom prst="rect">
            <a:avLst/>
          </a:prstGeom>
        </p:spPr>
      </p:pic>
      <p:pic>
        <p:nvPicPr>
          <p:cNvPr id="36" name="Imagen 35">
            <a:extLst>
              <a:ext uri="{FF2B5EF4-FFF2-40B4-BE49-F238E27FC236}">
                <a16:creationId xmlns:a16="http://schemas.microsoft.com/office/drawing/2014/main" id="{877A00EA-AC40-4E2E-B50F-237A76B4EA3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746837" y="19981521"/>
            <a:ext cx="4572000" cy="4572000"/>
          </a:xfrm>
          <a:prstGeom prst="rect">
            <a:avLst/>
          </a:prstGeom>
        </p:spPr>
      </p:pic>
      <p:pic>
        <p:nvPicPr>
          <p:cNvPr id="38" name="Imagen 37">
            <a:extLst>
              <a:ext uri="{FF2B5EF4-FFF2-40B4-BE49-F238E27FC236}">
                <a16:creationId xmlns:a16="http://schemas.microsoft.com/office/drawing/2014/main" id="{C9A47148-8A0A-42A8-920D-108C0767D1E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3738898" y="20004358"/>
            <a:ext cx="4572000" cy="4572000"/>
          </a:xfrm>
          <a:prstGeom prst="rect">
            <a:avLst/>
          </a:prstGeom>
        </p:spPr>
      </p:pic>
      <p:sp>
        <p:nvSpPr>
          <p:cNvPr id="64" name="CuadroTexto 63">
            <a:extLst>
              <a:ext uri="{FF2B5EF4-FFF2-40B4-BE49-F238E27FC236}">
                <a16:creationId xmlns:a16="http://schemas.microsoft.com/office/drawing/2014/main" id="{C4630304-1F78-48B0-8187-2F1CB366EBA8}"/>
              </a:ext>
            </a:extLst>
          </p:cNvPr>
          <p:cNvSpPr txBox="1"/>
          <p:nvPr/>
        </p:nvSpPr>
        <p:spPr>
          <a:xfrm>
            <a:off x="17878107" y="24759077"/>
            <a:ext cx="10896329" cy="707886"/>
          </a:xfrm>
          <a:prstGeom prst="rect">
            <a:avLst/>
          </a:prstGeom>
          <a:noFill/>
        </p:spPr>
        <p:txBody>
          <a:bodyPr wrap="square">
            <a:spAutoFit/>
          </a:bodyPr>
          <a:lstStyle/>
          <a:p>
            <a:pPr algn="ctr"/>
            <a:r>
              <a:rPr lang="es-ES" sz="4000" dirty="0">
                <a:solidFill>
                  <a:srgbClr val="002060"/>
                </a:solidFill>
                <a:latin typeface="Consolas" panose="020B0609020204030204" pitchFamily="49" charset="0"/>
              </a:rPr>
              <a:t>GENDER TRENDS OVER TIME</a:t>
            </a:r>
          </a:p>
        </p:txBody>
      </p:sp>
      <p:sp>
        <p:nvSpPr>
          <p:cNvPr id="67" name="CuadroTexto 66">
            <a:extLst>
              <a:ext uri="{FF2B5EF4-FFF2-40B4-BE49-F238E27FC236}">
                <a16:creationId xmlns:a16="http://schemas.microsoft.com/office/drawing/2014/main" id="{463A0C15-C066-4A7D-BEA5-9FEA8681E18A}"/>
              </a:ext>
            </a:extLst>
          </p:cNvPr>
          <p:cNvSpPr txBox="1"/>
          <p:nvPr/>
        </p:nvSpPr>
        <p:spPr>
          <a:xfrm>
            <a:off x="18048777" y="18923755"/>
            <a:ext cx="10896329" cy="707886"/>
          </a:xfrm>
          <a:prstGeom prst="rect">
            <a:avLst/>
          </a:prstGeom>
          <a:noFill/>
        </p:spPr>
        <p:txBody>
          <a:bodyPr wrap="square">
            <a:spAutoFit/>
          </a:bodyPr>
          <a:lstStyle/>
          <a:p>
            <a:pPr algn="ctr"/>
            <a:r>
              <a:rPr lang="es-ES" sz="4000" dirty="0">
                <a:solidFill>
                  <a:srgbClr val="002060"/>
                </a:solidFill>
                <a:latin typeface="Consolas" panose="020B0609020204030204" pitchFamily="49" charset="0"/>
              </a:rPr>
              <a:t>GENERAL DATA OVERVIEW</a:t>
            </a:r>
          </a:p>
        </p:txBody>
      </p:sp>
      <p:sp>
        <p:nvSpPr>
          <p:cNvPr id="71" name="CuadroTexto 70">
            <a:extLst>
              <a:ext uri="{FF2B5EF4-FFF2-40B4-BE49-F238E27FC236}">
                <a16:creationId xmlns:a16="http://schemas.microsoft.com/office/drawing/2014/main" id="{3BDC56B0-3692-475B-82E8-D55D3B8B6CA3}"/>
              </a:ext>
            </a:extLst>
          </p:cNvPr>
          <p:cNvSpPr txBox="1"/>
          <p:nvPr/>
        </p:nvSpPr>
        <p:spPr>
          <a:xfrm>
            <a:off x="13567141" y="27059488"/>
            <a:ext cx="14887688" cy="4401205"/>
          </a:xfrm>
          <a:prstGeom prst="rect">
            <a:avLst/>
          </a:prstGeom>
          <a:noFill/>
          <a:ln w="50800">
            <a:solidFill>
              <a:srgbClr val="0070C0"/>
            </a:solidFill>
          </a:ln>
        </p:spPr>
        <p:txBody>
          <a:bodyPr wrap="square">
            <a:spAutoFit/>
          </a:bodyPr>
          <a:lstStyle/>
          <a:p>
            <a:r>
              <a:rPr lang="en-US" sz="4000" dirty="0">
                <a:solidFill>
                  <a:srgbClr val="C00000"/>
                </a:solidFill>
              </a:rPr>
              <a:t>•  Women remain underrepresented in fisheries science leadership</a:t>
            </a:r>
          </a:p>
          <a:p>
            <a:r>
              <a:rPr lang="en-US" sz="4000" dirty="0">
                <a:solidFill>
                  <a:srgbClr val="C00000"/>
                </a:solidFill>
              </a:rPr>
              <a:t>•  Men outnumber women nearly 2 to 1 in ICES scientific groups</a:t>
            </a:r>
          </a:p>
          <a:p>
            <a:r>
              <a:rPr lang="en-US" sz="4000" dirty="0">
                <a:solidFill>
                  <a:srgbClr val="C00000"/>
                </a:solidFill>
              </a:rPr>
              <a:t>•  Female participation shows small gains but fragile progress</a:t>
            </a:r>
          </a:p>
          <a:p>
            <a:r>
              <a:rPr lang="en-US" sz="4000" dirty="0">
                <a:solidFill>
                  <a:srgbClr val="C00000"/>
                </a:solidFill>
              </a:rPr>
              <a:t>•  Leadership gap widens — fewer female chairs since 2022</a:t>
            </a:r>
          </a:p>
          <a:p>
            <a:r>
              <a:rPr lang="en-US" sz="4000" dirty="0">
                <a:solidFill>
                  <a:srgbClr val="C00000"/>
                </a:solidFill>
              </a:rPr>
              <a:t>•  Equity is not just about participation — it’s about power</a:t>
            </a:r>
          </a:p>
          <a:p>
            <a:r>
              <a:rPr lang="en-US" sz="4000" dirty="0">
                <a:solidFill>
                  <a:srgbClr val="C00000"/>
                </a:solidFill>
              </a:rPr>
              <a:t>•  Invisible barriers shape who speaks for the ocean</a:t>
            </a:r>
          </a:p>
          <a:p>
            <a:r>
              <a:rPr lang="en-US" sz="4000" dirty="0">
                <a:solidFill>
                  <a:srgbClr val="C00000"/>
                </a:solidFill>
              </a:rPr>
              <a:t>•  AI and open data can expose the silent gender currents</a:t>
            </a:r>
          </a:p>
        </p:txBody>
      </p:sp>
      <p:sp>
        <p:nvSpPr>
          <p:cNvPr id="72" name="Recortar rectángulo de esquina sencilla 2">
            <a:extLst>
              <a:ext uri="{FF2B5EF4-FFF2-40B4-BE49-F238E27FC236}">
                <a16:creationId xmlns:a16="http://schemas.microsoft.com/office/drawing/2014/main" id="{E1211442-FAFB-42A8-934D-AE05A73E7E7C}"/>
              </a:ext>
            </a:extLst>
          </p:cNvPr>
          <p:cNvSpPr/>
          <p:nvPr/>
        </p:nvSpPr>
        <p:spPr>
          <a:xfrm>
            <a:off x="19081037" y="26039070"/>
            <a:ext cx="3889829" cy="638213"/>
          </a:xfrm>
          <a:prstGeom prst="snip1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4000" b="1" dirty="0">
                <a:solidFill>
                  <a:srgbClr val="FF0000"/>
                </a:solidFill>
                <a:latin typeface="Consolas" panose="020B0609020204030204" pitchFamily="49" charset="0"/>
              </a:rPr>
              <a:t>KEY MESSAGES</a:t>
            </a:r>
            <a:endParaRPr lang="es-ES" b="1" dirty="0">
              <a:solidFill>
                <a:srgbClr val="FF0000"/>
              </a:solidFill>
              <a:latin typeface="Consolas" panose="020B0609020204030204" pitchFamily="49" charset="0"/>
            </a:endParaRPr>
          </a:p>
        </p:txBody>
      </p:sp>
      <p:sp>
        <p:nvSpPr>
          <p:cNvPr id="74" name="CuadroTexto 73">
            <a:extLst>
              <a:ext uri="{FF2B5EF4-FFF2-40B4-BE49-F238E27FC236}">
                <a16:creationId xmlns:a16="http://schemas.microsoft.com/office/drawing/2014/main" id="{F1F8ECB0-36F7-4E25-A213-04553725399B}"/>
              </a:ext>
            </a:extLst>
          </p:cNvPr>
          <p:cNvSpPr txBox="1"/>
          <p:nvPr/>
        </p:nvSpPr>
        <p:spPr>
          <a:xfrm>
            <a:off x="13372237" y="32407218"/>
            <a:ext cx="14081028" cy="3970318"/>
          </a:xfrm>
          <a:prstGeom prst="rect">
            <a:avLst/>
          </a:prstGeom>
          <a:noFill/>
        </p:spPr>
        <p:txBody>
          <a:bodyPr wrap="square">
            <a:spAutoFit/>
          </a:bodyPr>
          <a:lstStyle/>
          <a:p>
            <a:r>
              <a:rPr lang="en-US" sz="1800" dirty="0">
                <a:solidFill>
                  <a:srgbClr val="002060"/>
                </a:solidFill>
              </a:rPr>
              <a:t>Future Directions / Ongoing Work</a:t>
            </a:r>
          </a:p>
          <a:p>
            <a:r>
              <a:rPr lang="en-US" sz="1800" dirty="0">
                <a:solidFill>
                  <a:srgbClr val="002060"/>
                </a:solidFill>
              </a:rPr>
              <a:t>•  Expand the analysis beyond ICES to include other </a:t>
            </a:r>
            <a:r>
              <a:rPr lang="en-US" sz="1800" dirty="0" err="1">
                <a:solidFill>
                  <a:srgbClr val="002060"/>
                </a:solidFill>
              </a:rPr>
              <a:t>tRFMO</a:t>
            </a:r>
            <a:r>
              <a:rPr lang="en-US" sz="1800" dirty="0">
                <a:solidFill>
                  <a:srgbClr val="002060"/>
                </a:solidFill>
              </a:rPr>
              <a:t> scientific bodies (ICCAT, IOTC, IATTC, WCPFC).</a:t>
            </a:r>
          </a:p>
          <a:p>
            <a:r>
              <a:rPr lang="en-US" sz="1800" dirty="0">
                <a:solidFill>
                  <a:srgbClr val="002060"/>
                </a:solidFill>
              </a:rPr>
              <a:t>•  Assess intersectionality — explore gender alongside career stage, discipline, or geography (e.g., Global North vs. Global South).</a:t>
            </a:r>
          </a:p>
          <a:p>
            <a:r>
              <a:rPr lang="en-US" sz="1800" dirty="0">
                <a:solidFill>
                  <a:srgbClr val="002060"/>
                </a:solidFill>
              </a:rPr>
              <a:t>•  Investigate drivers of disparity: publication productivity, mentoring, institutional culture.</a:t>
            </a:r>
          </a:p>
          <a:p>
            <a:r>
              <a:rPr lang="en-US" sz="1800" dirty="0">
                <a:solidFill>
                  <a:srgbClr val="002060"/>
                </a:solidFill>
              </a:rPr>
              <a:t>•  Evaluate policy impact — link gender representation to outcomes in advice quality or inclusivity of management recommendations.</a:t>
            </a:r>
          </a:p>
          <a:p>
            <a:r>
              <a:rPr lang="en-US" sz="1800" dirty="0">
                <a:solidFill>
                  <a:srgbClr val="002060"/>
                </a:solidFill>
              </a:rPr>
              <a:t>•  Build an automated monitoring dashboard using AI (e.g., R + GPT pipelines) for annual gender-balance tracking in marine science.</a:t>
            </a:r>
          </a:p>
          <a:p>
            <a:r>
              <a:rPr lang="en-US" sz="1800" dirty="0">
                <a:solidFill>
                  <a:srgbClr val="002060"/>
                </a:solidFill>
              </a:rPr>
              <a:t>•  Develop policy briefs for ICES, FAO, or RFMOs with measurable equity targets.</a:t>
            </a:r>
          </a:p>
          <a:p>
            <a:endParaRPr lang="en-US" sz="1800" dirty="0">
              <a:solidFill>
                <a:srgbClr val="002060"/>
              </a:solidFill>
            </a:endParaRPr>
          </a:p>
          <a:p>
            <a:r>
              <a:rPr lang="en-US" sz="1800" dirty="0">
                <a:solidFill>
                  <a:srgbClr val="002060"/>
                </a:solidFill>
              </a:rPr>
              <a:t>Early-Stage Researchers </a:t>
            </a:r>
          </a:p>
          <a:p>
            <a:r>
              <a:rPr lang="en-US" sz="1800" dirty="0">
                <a:solidFill>
                  <a:srgbClr val="002060"/>
                </a:solidFill>
              </a:rPr>
              <a:t>• Mentorship matters: visibility and role models can accelerate equity.</a:t>
            </a:r>
          </a:p>
          <a:p>
            <a:r>
              <a:rPr lang="en-US" sz="1800" dirty="0">
                <a:solidFill>
                  <a:srgbClr val="002060"/>
                </a:solidFill>
              </a:rPr>
              <a:t>• Collective action: form or join Women in Marine Science and Diversity in RFMOs networks.</a:t>
            </a:r>
          </a:p>
          <a:p>
            <a:r>
              <a:rPr lang="en-US" sz="1800" dirty="0">
                <a:solidFill>
                  <a:srgbClr val="002060"/>
                </a:solidFill>
              </a:rPr>
              <a:t>• Data transparency: push for gender-disaggregated data in all RFMO reports.</a:t>
            </a:r>
          </a:p>
          <a:p>
            <a:r>
              <a:rPr lang="en-US" sz="1800" dirty="0">
                <a:solidFill>
                  <a:srgbClr val="002060"/>
                </a:solidFill>
              </a:rPr>
              <a:t>• Skill empowerment: promote training in data science, leadership, and negotiation for young women.</a:t>
            </a:r>
          </a:p>
          <a:p>
            <a:r>
              <a:rPr lang="en-US" sz="1800" dirty="0">
                <a:solidFill>
                  <a:srgbClr val="002060"/>
                </a:solidFill>
              </a:rPr>
              <a:t>• Allyship: encourage male colleagues to support equitable participation and challenge bias in meetings.</a:t>
            </a:r>
          </a:p>
        </p:txBody>
      </p:sp>
      <p:sp>
        <p:nvSpPr>
          <p:cNvPr id="75" name="Recortar rectángulo de esquina sencilla 2">
            <a:extLst>
              <a:ext uri="{FF2B5EF4-FFF2-40B4-BE49-F238E27FC236}">
                <a16:creationId xmlns:a16="http://schemas.microsoft.com/office/drawing/2014/main" id="{E470B362-5893-45C4-94CA-36463DEAA1D3}"/>
              </a:ext>
            </a:extLst>
          </p:cNvPr>
          <p:cNvSpPr/>
          <p:nvPr/>
        </p:nvSpPr>
        <p:spPr>
          <a:xfrm>
            <a:off x="13307361" y="31596718"/>
            <a:ext cx="3889829" cy="638213"/>
          </a:xfrm>
          <a:prstGeom prst="snip1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4000" b="1" dirty="0">
                <a:solidFill>
                  <a:srgbClr val="FF0000"/>
                </a:solidFill>
                <a:latin typeface="Consolas" panose="020B0609020204030204" pitchFamily="49" charset="0"/>
              </a:rPr>
              <a:t>FUTURE</a:t>
            </a:r>
            <a:endParaRPr lang="es-ES" b="1" dirty="0">
              <a:solidFill>
                <a:srgbClr val="FF0000"/>
              </a:solidFill>
              <a:latin typeface="Consolas" panose="020B0609020204030204" pitchFamily="49" charset="0"/>
            </a:endParaRPr>
          </a:p>
        </p:txBody>
      </p:sp>
      <p:pic>
        <p:nvPicPr>
          <p:cNvPr id="63" name="Imagen 62">
            <a:extLst>
              <a:ext uri="{FF2B5EF4-FFF2-40B4-BE49-F238E27FC236}">
                <a16:creationId xmlns:a16="http://schemas.microsoft.com/office/drawing/2014/main" id="{A78E50CB-5CAE-41F6-88F5-A49BB48CC4C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804054" y="41356184"/>
            <a:ext cx="609604" cy="609604"/>
          </a:xfrm>
          <a:prstGeom prst="rect">
            <a:avLst/>
          </a:prstGeom>
        </p:spPr>
      </p:pic>
      <p:pic>
        <p:nvPicPr>
          <p:cNvPr id="10" name="Imagen 9">
            <a:extLst>
              <a:ext uri="{FF2B5EF4-FFF2-40B4-BE49-F238E27FC236}">
                <a16:creationId xmlns:a16="http://schemas.microsoft.com/office/drawing/2014/main" id="{D0DD1E5A-73F3-4948-B042-BABC291AACF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6489298" y="1159978"/>
            <a:ext cx="2209088" cy="2700000"/>
          </a:xfrm>
          <a:prstGeom prst="rect">
            <a:avLst/>
          </a:prstGeom>
        </p:spPr>
      </p:pic>
      <p:pic>
        <p:nvPicPr>
          <p:cNvPr id="23" name="Imagen 22">
            <a:extLst>
              <a:ext uri="{FF2B5EF4-FFF2-40B4-BE49-F238E27FC236}">
                <a16:creationId xmlns:a16="http://schemas.microsoft.com/office/drawing/2014/main" id="{727C9953-EB11-4C80-8CF2-51B89D844726}"/>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24076878" y="41329077"/>
            <a:ext cx="1255153" cy="1255153"/>
          </a:xfrm>
          <a:prstGeom prst="rect">
            <a:avLst/>
          </a:prstGeom>
        </p:spPr>
      </p:pic>
      <p:pic>
        <p:nvPicPr>
          <p:cNvPr id="52" name="Imagen 51">
            <a:extLst>
              <a:ext uri="{FF2B5EF4-FFF2-40B4-BE49-F238E27FC236}">
                <a16:creationId xmlns:a16="http://schemas.microsoft.com/office/drawing/2014/main" id="{C836EA8D-7315-46E7-83AB-DE2F9D3F8EC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584" y="-79775"/>
            <a:ext cx="30340383" cy="1578107"/>
          </a:xfrm>
          <a:prstGeom prst="rect">
            <a:avLst/>
          </a:prstGeom>
        </p:spPr>
      </p:pic>
      <p:pic>
        <p:nvPicPr>
          <p:cNvPr id="53" name="Imagen 52">
            <a:extLst>
              <a:ext uri="{FF2B5EF4-FFF2-40B4-BE49-F238E27FC236}">
                <a16:creationId xmlns:a16="http://schemas.microsoft.com/office/drawing/2014/main" id="{50C7E528-3589-447E-A918-1349BDD49985}"/>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19297354" y="41172437"/>
            <a:ext cx="1640782" cy="1584000"/>
          </a:xfrm>
          <a:prstGeom prst="rect">
            <a:avLst/>
          </a:prstGeom>
          <a:solidFill>
            <a:schemeClr val="bg1"/>
          </a:solidFill>
        </p:spPr>
      </p:pic>
      <p:pic>
        <p:nvPicPr>
          <p:cNvPr id="54" name="Imagen 53">
            <a:extLst>
              <a:ext uri="{FF2B5EF4-FFF2-40B4-BE49-F238E27FC236}">
                <a16:creationId xmlns:a16="http://schemas.microsoft.com/office/drawing/2014/main" id="{A82DB5AE-7985-4273-B783-27FD3A514034}"/>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1232766" y="41691082"/>
            <a:ext cx="2351769" cy="576000"/>
          </a:xfrm>
          <a:prstGeom prst="rect">
            <a:avLst/>
          </a:prstGeom>
        </p:spPr>
      </p:pic>
    </p:spTree>
    <p:extLst>
      <p:ext uri="{BB962C8B-B14F-4D97-AF65-F5344CB8AC3E}">
        <p14:creationId xmlns:p14="http://schemas.microsoft.com/office/powerpoint/2010/main" val="2816482014"/>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36D854-92BA-4F5C-8B56-55EE764DF072}">
  <we:reference id="wa104051163" version="1.2.0.3" store="es-ES" storeType="OMEX"/>
  <we:alternateReferences>
    <we:reference id="wa104051163" version="1.2.0.3" store="wa1040511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7518</TotalTime>
  <Words>1697</Words>
  <Application>Microsoft Office PowerPoint</Application>
  <PresentationFormat>Personalizado</PresentationFormat>
  <Paragraphs>103</Paragraphs>
  <Slides>1</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vt:i4>
      </vt:variant>
    </vt:vector>
  </HeadingPairs>
  <TitlesOfParts>
    <vt:vector size="7" baseType="lpstr">
      <vt:lpstr>Arial</vt:lpstr>
      <vt:lpstr>Calibri</vt:lpstr>
      <vt:lpstr>Calibri Light</vt:lpstr>
      <vt:lpstr>Consolas</vt:lpstr>
      <vt:lpstr>Wingdings</vt:lpstr>
      <vt:lpstr>Tema de Office</vt:lpstr>
      <vt:lpstr>Lucía Arranz1, Margarita Rincón3, María Soto1, MarÍa José Juan Jordá1, Diana González1, Lucía Rueda1, Maria Grazia Pennino2.  1.Instituto Español de Oceanografía (IEO-CSIC), 2.Institut de Ciències del Mar (ICM- CSIC),  3.Joint Reseach Centre (JRC)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MODELLING DRIVERS OF TRAWL FISHERIES DISCARDS USING BAYESIAN SPATIO-TEMPORAL MODELS</dc:title>
  <dc:creator>María Soto</dc:creator>
  <cp:lastModifiedBy>Lucia Arranz</cp:lastModifiedBy>
  <cp:revision>192</cp:revision>
  <dcterms:created xsi:type="dcterms:W3CDTF">2023-08-02T10:29:35Z</dcterms:created>
  <dcterms:modified xsi:type="dcterms:W3CDTF">2025-11-04T08:59:30Z</dcterms:modified>
</cp:coreProperties>
</file>